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72" r:id="rId7"/>
    <p:sldId id="261" r:id="rId8"/>
    <p:sldId id="273" r:id="rId9"/>
    <p:sldId id="274" r:id="rId10"/>
    <p:sldId id="263" r:id="rId11"/>
    <p:sldId id="265" r:id="rId12"/>
    <p:sldId id="266" r:id="rId13"/>
    <p:sldId id="267" r:id="rId14"/>
    <p:sldId id="268" r:id="rId15"/>
    <p:sldId id="270" r:id="rId16"/>
    <p:sldId id="271" r:id="rId17"/>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78" d="100"/>
          <a:sy n="78" d="100"/>
        </p:scale>
        <p:origin x="850" y="6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10/23/2026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10/23/2026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10/23/2026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10/23/2026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10/23/2026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jpg"/><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2.jpg"/><Relationship Id="rId1" Type="http://schemas.openxmlformats.org/officeDocument/2006/relationships/slideLayout" Target="../slideLayouts/slideLayout7.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2.jpg"/><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2.jpg"/><Relationship Id="rId1" Type="http://schemas.openxmlformats.org/officeDocument/2006/relationships/slideLayout" Target="../slideLayouts/slideLayout7.xml"/><Relationship Id="rId5" Type="http://schemas.openxmlformats.org/officeDocument/2006/relationships/image" Target="../media/image13.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761759" y="1143000"/>
            <a:ext cx="4638001" cy="1508105"/>
          </a:xfrm>
          <a:prstGeom prst="rect">
            <a:avLst/>
          </a:prstGeom>
          <a:noFill/>
        </p:spPr>
        <p:txBody>
          <a:bodyPr wrap="none">
            <a:spAutoFit/>
          </a:bodyPr>
          <a:lstStyle/>
          <a:p>
            <a:pPr algn="ctr">
              <a:defRPr sz="3400" b="1">
                <a:solidFill>
                  <a:srgbClr val="1F3756"/>
                </a:solidFill>
              </a:defRPr>
            </a:pPr>
            <a:r>
              <a:rPr dirty="0"/>
              <a:t>Data Analysis Essentials</a:t>
            </a:r>
          </a:p>
          <a:p>
            <a:pPr algn="ctr">
              <a:defRPr sz="2700" b="1">
                <a:solidFill>
                  <a:srgbClr val="4472C4"/>
                </a:solidFill>
              </a:defRPr>
            </a:pPr>
            <a:r>
              <a:rPr dirty="0"/>
              <a:t>Cornerstone Project </a:t>
            </a:r>
          </a:p>
          <a:p>
            <a:pPr algn="ctr">
              <a:defRPr sz="3100" b="1">
                <a:solidFill>
                  <a:srgbClr val="2D2D2D"/>
                </a:solidFill>
              </a:defRPr>
            </a:pPr>
            <a:r>
              <a:rPr lang="en-IN" dirty="0"/>
              <a:t>Weather Data</a:t>
            </a:r>
            <a:r>
              <a:rPr dirty="0"/>
              <a:t> Analysis</a:t>
            </a:r>
          </a:p>
        </p:txBody>
      </p:sp>
      <p:sp>
        <p:nvSpPr>
          <p:cNvPr id="4" name="Rounded Rectangle 3"/>
          <p:cNvSpPr/>
          <p:nvPr/>
        </p:nvSpPr>
        <p:spPr>
          <a:xfrm>
            <a:off x="777240" y="3749039"/>
            <a:ext cx="521208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990600" y="3819955"/>
            <a:ext cx="4882896" cy="1092607"/>
          </a:xfrm>
          <a:prstGeom prst="rect">
            <a:avLst/>
          </a:prstGeom>
          <a:noFill/>
        </p:spPr>
        <p:txBody>
          <a:bodyPr wrap="square">
            <a:spAutoFit/>
          </a:bodyPr>
          <a:lstStyle/>
          <a:p>
            <a:pPr>
              <a:defRPr sz="1500" b="1">
                <a:solidFill>
                  <a:srgbClr val="1F3756"/>
                </a:solidFill>
              </a:defRPr>
            </a:pPr>
            <a:r>
              <a:rPr lang="en-IN" noProof="1"/>
              <a:t>Presented by</a:t>
            </a:r>
          </a:p>
          <a:p>
            <a:pPr>
              <a:defRPr sz="1250">
                <a:solidFill>
                  <a:srgbClr val="2D2D2D"/>
                </a:solidFill>
              </a:defRPr>
            </a:pPr>
            <a:r>
              <a:rPr lang="en-IN" noProof="1"/>
              <a:t>[K.Rekha – 25B11AI506]</a:t>
            </a:r>
            <a:br>
              <a:rPr lang="en-IN" noProof="1"/>
            </a:br>
            <a:r>
              <a:rPr lang="en-IN" noProof="1"/>
              <a:t>[S.Praharshitha -- 25B11AIA70]</a:t>
            </a:r>
            <a:br>
              <a:rPr lang="en-IN" noProof="1"/>
            </a:br>
            <a:r>
              <a:rPr lang="en-IN" noProof="1"/>
              <a:t>[P.Satya – 25B11AI995]</a:t>
            </a:r>
          </a:p>
          <a:p>
            <a:pPr>
              <a:defRPr sz="1250">
                <a:solidFill>
                  <a:srgbClr val="2D2D2D"/>
                </a:solidFill>
              </a:defRPr>
            </a:pPr>
            <a:r>
              <a:rPr lang="en-IN" noProof="1"/>
              <a:t>[S.Ruhee – 25B11AIA84]</a:t>
            </a:r>
          </a:p>
        </p:txBody>
      </p:sp>
      <p:sp>
        <p:nvSpPr>
          <p:cNvPr id="6" name="Rounded Rectangle 5"/>
          <p:cNvSpPr/>
          <p:nvPr/>
        </p:nvSpPr>
        <p:spPr>
          <a:xfrm>
            <a:off x="6263640" y="3749039"/>
            <a:ext cx="493776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428231" y="3877055"/>
            <a:ext cx="4608576" cy="978408"/>
          </a:xfrm>
          <a:prstGeom prst="rect">
            <a:avLst/>
          </a:prstGeom>
          <a:noFill/>
        </p:spPr>
        <p:txBody>
          <a:bodyPr wrap="square">
            <a:spAutoFit/>
          </a:bodyPr>
          <a:lstStyle/>
          <a:p>
            <a:pPr>
              <a:defRPr sz="1500" b="1">
                <a:solidFill>
                  <a:srgbClr val="1F3756"/>
                </a:solidFill>
              </a:defRPr>
            </a:pPr>
            <a:r>
              <a:t>Department</a:t>
            </a:r>
          </a:p>
          <a:p>
            <a:pPr>
              <a:defRPr sz="1250">
                <a:solidFill>
                  <a:srgbClr val="2D2D2D"/>
                </a:solidFill>
              </a:defRPr>
            </a:pPr>
            <a:r>
              <a:t>Department of Artificial Intelligence &amp; Machine Learning</a:t>
            </a:r>
          </a:p>
        </p:txBody>
      </p:sp>
      <p:pic>
        <p:nvPicPr>
          <p:cNvPr id="9" name="object 2">
            <a:extLst>
              <a:ext uri="{FF2B5EF4-FFF2-40B4-BE49-F238E27FC236}">
                <a16:creationId xmlns:a16="http://schemas.microsoft.com/office/drawing/2014/main" id="{4B0A9B6E-6BED-E770-BD74-9A366B3B1D82}"/>
              </a:ext>
            </a:extLst>
          </p:cNvPr>
          <p:cNvPicPr/>
          <p:nvPr/>
        </p:nvPicPr>
        <p:blipFill>
          <a:blip r:embed="rId2" cstate="print"/>
          <a:stretch>
            <a:fillRect/>
          </a:stretch>
        </p:blipFill>
        <p:spPr>
          <a:xfrm>
            <a:off x="3383280" y="270433"/>
            <a:ext cx="4610910" cy="62864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76373" y="1205361"/>
            <a:ext cx="1490601" cy="492443"/>
          </a:xfrm>
          <a:prstGeom prst="rect">
            <a:avLst/>
          </a:prstGeom>
          <a:noFill/>
        </p:spPr>
        <p:txBody>
          <a:bodyPr wrap="none">
            <a:spAutoFit/>
          </a:bodyPr>
          <a:lstStyle/>
          <a:p>
            <a:pPr>
              <a:defRPr sz="2600" b="1">
                <a:solidFill>
                  <a:srgbClr val="1F3756"/>
                </a:solidFill>
              </a:defRPr>
            </a:pPr>
            <a:r>
              <a:rPr lang="en-IN" dirty="0"/>
              <a:t>ANALYSIS</a:t>
            </a:r>
            <a:endParaRPr dirty="0"/>
          </a:p>
        </p:txBody>
      </p:sp>
      <p:sp>
        <p:nvSpPr>
          <p:cNvPr id="4" name="TextBox 3"/>
          <p:cNvSpPr txBox="1"/>
          <p:nvPr/>
        </p:nvSpPr>
        <p:spPr>
          <a:xfrm>
            <a:off x="476373" y="1720556"/>
            <a:ext cx="10789920" cy="365760"/>
          </a:xfrm>
          <a:prstGeom prst="rect">
            <a:avLst/>
          </a:prstGeom>
          <a:noFill/>
        </p:spPr>
        <p:txBody>
          <a:bodyPr wrap="none">
            <a:spAutoFit/>
          </a:bodyPr>
          <a:lstStyle/>
          <a:p>
            <a:pPr>
              <a:defRPr sz="1100">
                <a:solidFill>
                  <a:srgbClr val="6E6E6E"/>
                </a:solidFill>
              </a:defRPr>
            </a:pPr>
            <a:r>
              <a:rPr dirty="0"/>
              <a:t>This example emphasizes completed work and evidence, not project planning.</a:t>
            </a:r>
          </a:p>
        </p:txBody>
      </p:sp>
      <p:sp>
        <p:nvSpPr>
          <p:cNvPr id="5" name="Rounded Rectangle 4"/>
          <p:cNvSpPr/>
          <p:nvPr/>
        </p:nvSpPr>
        <p:spPr>
          <a:xfrm>
            <a:off x="640080" y="2764338"/>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671" y="2892354"/>
            <a:ext cx="3145536" cy="707886"/>
          </a:xfrm>
          <a:prstGeom prst="rect">
            <a:avLst/>
          </a:prstGeom>
          <a:noFill/>
        </p:spPr>
        <p:txBody>
          <a:bodyPr wrap="square">
            <a:spAutoFit/>
          </a:bodyPr>
          <a:lstStyle/>
          <a:p>
            <a:pPr>
              <a:defRPr sz="1500" b="1">
                <a:solidFill>
                  <a:srgbClr val="1F3756"/>
                </a:solidFill>
              </a:defRPr>
            </a:pPr>
            <a:r>
              <a:rPr dirty="0"/>
              <a:t>1</a:t>
            </a:r>
            <a:r>
              <a:rPr lang="en-US" noProof="1"/>
              <a:t>. Implementation</a:t>
            </a:r>
          </a:p>
          <a:p>
            <a:pPr>
              <a:defRPr sz="1250">
                <a:solidFill>
                  <a:srgbClr val="2D2D2D"/>
                </a:solidFill>
              </a:defRPr>
            </a:pPr>
            <a:r>
              <a:rPr lang="en-US" noProof="1"/>
              <a:t>Develop and execute Python modules for weather data processing</a:t>
            </a:r>
            <a:r>
              <a:rPr lang="en-US" dirty="0"/>
              <a:t>.</a:t>
            </a:r>
            <a:endParaRPr dirty="0"/>
          </a:p>
        </p:txBody>
      </p:sp>
      <p:sp>
        <p:nvSpPr>
          <p:cNvPr id="7" name="Rounded Rectangle 6"/>
          <p:cNvSpPr/>
          <p:nvPr/>
        </p:nvSpPr>
        <p:spPr>
          <a:xfrm>
            <a:off x="4343400" y="2764338"/>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07992" y="2892354"/>
            <a:ext cx="3145536" cy="978408"/>
          </a:xfrm>
          <a:prstGeom prst="rect">
            <a:avLst/>
          </a:prstGeom>
          <a:noFill/>
        </p:spPr>
        <p:txBody>
          <a:bodyPr wrap="square">
            <a:spAutoFit/>
          </a:bodyPr>
          <a:lstStyle/>
          <a:p>
            <a:pPr>
              <a:defRPr sz="1500" b="1">
                <a:solidFill>
                  <a:srgbClr val="1F3756"/>
                </a:solidFill>
              </a:defRPr>
            </a:pPr>
            <a:r>
              <a:t>2. Preprocessing</a:t>
            </a:r>
          </a:p>
          <a:p>
            <a:pPr>
              <a:defRPr sz="1250">
                <a:solidFill>
                  <a:srgbClr val="2D2D2D"/>
                </a:solidFill>
              </a:defRPr>
            </a:pPr>
            <a:r>
              <a:t>Actual missing-value treatment, duplicates, transformations and final dataset</a:t>
            </a:r>
          </a:p>
        </p:txBody>
      </p:sp>
      <p:sp>
        <p:nvSpPr>
          <p:cNvPr id="9" name="Rounded Rectangle 8"/>
          <p:cNvSpPr/>
          <p:nvPr/>
        </p:nvSpPr>
        <p:spPr>
          <a:xfrm>
            <a:off x="8046720" y="2764338"/>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11312" y="2919786"/>
            <a:ext cx="3145536" cy="900246"/>
          </a:xfrm>
          <a:prstGeom prst="rect">
            <a:avLst/>
          </a:prstGeom>
          <a:noFill/>
        </p:spPr>
        <p:txBody>
          <a:bodyPr wrap="square">
            <a:spAutoFit/>
          </a:bodyPr>
          <a:lstStyle/>
          <a:p>
            <a:pPr>
              <a:defRPr sz="1500" b="1">
                <a:solidFill>
                  <a:srgbClr val="1F3756"/>
                </a:solidFill>
              </a:defRPr>
            </a:pPr>
            <a:r>
              <a:rPr dirty="0"/>
              <a:t>3. Analysis</a:t>
            </a:r>
          </a:p>
          <a:p>
            <a:pPr>
              <a:defRPr sz="1250">
                <a:solidFill>
                  <a:srgbClr val="2D2D2D"/>
                </a:solidFill>
              </a:defRPr>
            </a:pPr>
            <a:r>
              <a:rPr lang="en-US" noProof="1"/>
              <a:t>Analyse temperature statistics, weather conditions, and identify trends and seasonal patterns.</a:t>
            </a:r>
          </a:p>
        </p:txBody>
      </p:sp>
      <p:sp>
        <p:nvSpPr>
          <p:cNvPr id="11" name="Rounded Rectangle 10"/>
          <p:cNvSpPr/>
          <p:nvPr/>
        </p:nvSpPr>
        <p:spPr>
          <a:xfrm>
            <a:off x="640080" y="4273098"/>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804671" y="4401114"/>
            <a:ext cx="3145536" cy="978408"/>
          </a:xfrm>
          <a:prstGeom prst="rect">
            <a:avLst/>
          </a:prstGeom>
          <a:noFill/>
        </p:spPr>
        <p:txBody>
          <a:bodyPr wrap="square">
            <a:spAutoFit/>
          </a:bodyPr>
          <a:lstStyle/>
          <a:p>
            <a:pPr>
              <a:defRPr sz="1500" b="1">
                <a:solidFill>
                  <a:srgbClr val="1F3756"/>
                </a:solidFill>
              </a:defRPr>
            </a:pPr>
            <a:r>
              <a:t>4. Visualization</a:t>
            </a:r>
          </a:p>
          <a:p>
            <a:pPr>
              <a:defRPr sz="1250">
                <a:solidFill>
                  <a:srgbClr val="2D2D2D"/>
                </a:solidFill>
              </a:defRPr>
            </a:pPr>
            <a:r>
              <a:t>Graphs + interpretation of what each graph tells us</a:t>
            </a:r>
          </a:p>
        </p:txBody>
      </p:sp>
      <p:sp>
        <p:nvSpPr>
          <p:cNvPr id="13" name="Rounded Rectangle 12"/>
          <p:cNvSpPr/>
          <p:nvPr/>
        </p:nvSpPr>
        <p:spPr>
          <a:xfrm>
            <a:off x="4343400" y="4273098"/>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07992" y="4401114"/>
            <a:ext cx="3145536" cy="707886"/>
          </a:xfrm>
          <a:prstGeom prst="rect">
            <a:avLst/>
          </a:prstGeom>
          <a:noFill/>
        </p:spPr>
        <p:txBody>
          <a:bodyPr wrap="square">
            <a:spAutoFit/>
          </a:bodyPr>
          <a:lstStyle/>
          <a:p>
            <a:pPr>
              <a:defRPr sz="1500" b="1">
                <a:solidFill>
                  <a:srgbClr val="1F3756"/>
                </a:solidFill>
              </a:defRPr>
            </a:pPr>
            <a:r>
              <a:rPr lang="en-US" dirty="0"/>
              <a:t>5. Results</a:t>
            </a:r>
          </a:p>
          <a:p>
            <a:pPr>
              <a:defRPr sz="1250">
                <a:solidFill>
                  <a:srgbClr val="2D2D2D"/>
                </a:solidFill>
              </a:defRPr>
            </a:pPr>
            <a:r>
              <a:rPr lang="en-US" dirty="0"/>
              <a:t>Identify key weather trends, patterns, and temperature variations.</a:t>
            </a:r>
          </a:p>
        </p:txBody>
      </p:sp>
      <p:sp>
        <p:nvSpPr>
          <p:cNvPr id="15" name="Rounded Rectangle 14"/>
          <p:cNvSpPr/>
          <p:nvPr/>
        </p:nvSpPr>
        <p:spPr>
          <a:xfrm>
            <a:off x="8046720" y="4273098"/>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8211312" y="4401114"/>
            <a:ext cx="3145536" cy="1092607"/>
          </a:xfrm>
          <a:prstGeom prst="rect">
            <a:avLst/>
          </a:prstGeom>
          <a:noFill/>
        </p:spPr>
        <p:txBody>
          <a:bodyPr wrap="square">
            <a:spAutoFit/>
          </a:bodyPr>
          <a:lstStyle/>
          <a:p>
            <a:pPr>
              <a:defRPr sz="1500" b="1">
                <a:solidFill>
                  <a:srgbClr val="1F3756"/>
                </a:solidFill>
              </a:defRPr>
            </a:pPr>
            <a:r>
              <a:rPr dirty="0"/>
              <a:t>6. Presentation</a:t>
            </a:r>
          </a:p>
          <a:p>
            <a:pPr>
              <a:defRPr sz="1250">
                <a:solidFill>
                  <a:srgbClr val="2D2D2D"/>
                </a:solidFill>
              </a:defRPr>
            </a:pPr>
            <a:r>
              <a:rPr lang="en-US" dirty="0"/>
              <a:t>Demonstrate the working Python code, cleaned dataset, preprocessing steps, statistical analysis, graphs, histograms</a:t>
            </a:r>
            <a:r>
              <a:rPr dirty="0"/>
              <a:t> and clear individual contribution</a:t>
            </a:r>
          </a:p>
        </p:txBody>
      </p:sp>
      <p:pic>
        <p:nvPicPr>
          <p:cNvPr id="54" name="object 3">
            <a:extLst>
              <a:ext uri="{FF2B5EF4-FFF2-40B4-BE49-F238E27FC236}">
                <a16:creationId xmlns:a16="http://schemas.microsoft.com/office/drawing/2014/main" id="{D7544F32-DE5A-1C03-8915-B2D3A466174B}"/>
              </a:ext>
            </a:extLst>
          </p:cNvPr>
          <p:cNvPicPr/>
          <p:nvPr/>
        </p:nvPicPr>
        <p:blipFill>
          <a:blip r:embed="rId2" cstate="print"/>
          <a:stretch>
            <a:fillRect/>
          </a:stretch>
        </p:blipFill>
        <p:spPr>
          <a:xfrm>
            <a:off x="290749" y="204310"/>
            <a:ext cx="1488889" cy="5943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988635"/>
            <a:ext cx="6556923" cy="492443"/>
          </a:xfrm>
          <a:prstGeom prst="rect">
            <a:avLst/>
          </a:prstGeom>
          <a:noFill/>
        </p:spPr>
        <p:txBody>
          <a:bodyPr wrap="none">
            <a:spAutoFit/>
          </a:bodyPr>
          <a:lstStyle/>
          <a:p>
            <a:pPr>
              <a:defRPr sz="2600" b="1">
                <a:solidFill>
                  <a:srgbClr val="1F3756"/>
                </a:solidFill>
              </a:defRPr>
            </a:pPr>
            <a:r>
              <a:rPr dirty="0"/>
              <a:t>PROJECT OVERVIEW — </a:t>
            </a:r>
            <a:r>
              <a:rPr lang="en-IN" dirty="0"/>
              <a:t>Weather Data Analysis</a:t>
            </a:r>
            <a:endParaRPr dirty="0"/>
          </a:p>
        </p:txBody>
      </p:sp>
      <p:sp>
        <p:nvSpPr>
          <p:cNvPr id="4" name="TextBox 3"/>
          <p:cNvSpPr txBox="1"/>
          <p:nvPr/>
        </p:nvSpPr>
        <p:spPr>
          <a:xfrm>
            <a:off x="640080" y="1948755"/>
            <a:ext cx="6400800" cy="3052118"/>
          </a:xfrm>
          <a:prstGeom prst="rect">
            <a:avLst/>
          </a:prstGeom>
          <a:noFill/>
        </p:spPr>
        <p:txBody>
          <a:bodyPr wrap="square">
            <a:spAutoFit/>
          </a:bodyPr>
          <a:lstStyle/>
          <a:p>
            <a:pPr>
              <a:spcAft>
                <a:spcPts val="1000"/>
              </a:spcAft>
              <a:defRPr sz="1500">
                <a:solidFill>
                  <a:srgbClr val="2D2D2D"/>
                </a:solidFill>
              </a:defRPr>
            </a:pPr>
            <a:r>
              <a:rPr dirty="0"/>
              <a:t>Problem</a:t>
            </a:r>
            <a:r>
              <a:rPr lang="en-IN" dirty="0"/>
              <a:t>: </a:t>
            </a:r>
            <a:r>
              <a:rPr lang="en-US" dirty="0"/>
              <a:t>Weather data is often raw and inconsistent, making it difficult to clean, analyze, and identify useful patterns.</a:t>
            </a:r>
          </a:p>
          <a:p>
            <a:pPr>
              <a:spcAft>
                <a:spcPts val="1000"/>
              </a:spcAft>
              <a:defRPr sz="1500">
                <a:solidFill>
                  <a:srgbClr val="2D2D2D"/>
                </a:solidFill>
              </a:defRPr>
            </a:pPr>
            <a:r>
              <a:rPr dirty="0"/>
              <a:t>Objective: </a:t>
            </a:r>
            <a:r>
              <a:rPr lang="en-US" dirty="0"/>
              <a:t>Our system cleans and analyzes weather data, visualizes temperature trends, and generates meaningful insights.</a:t>
            </a:r>
          </a:p>
          <a:p>
            <a:pPr>
              <a:spcAft>
                <a:spcPts val="1000"/>
              </a:spcAft>
              <a:defRPr sz="1500">
                <a:solidFill>
                  <a:srgbClr val="2D2D2D"/>
                </a:solidFill>
              </a:defRPr>
            </a:pPr>
            <a:r>
              <a:rPr dirty="0"/>
              <a:t>Domain: </a:t>
            </a:r>
            <a:r>
              <a:rPr lang="en-IN" dirty="0"/>
              <a:t>Data Analysis &amp; Weather Analytics.</a:t>
            </a:r>
          </a:p>
          <a:p>
            <a:pPr>
              <a:spcAft>
                <a:spcPts val="1000"/>
              </a:spcAft>
              <a:defRPr sz="1500">
                <a:solidFill>
                  <a:srgbClr val="2D2D2D"/>
                </a:solidFill>
              </a:defRPr>
            </a:pPr>
            <a:r>
              <a:rPr dirty="0"/>
              <a:t>Dataset used in this example:</a:t>
            </a:r>
            <a:r>
              <a:rPr lang="en-IN" dirty="0"/>
              <a:t>climate_code.csv</a:t>
            </a:r>
            <a:r>
              <a:rPr dirty="0"/>
              <a:t>.</a:t>
            </a:r>
          </a:p>
          <a:p>
            <a:pPr>
              <a:spcAft>
                <a:spcPts val="1000"/>
              </a:spcAft>
              <a:defRPr sz="1500">
                <a:solidFill>
                  <a:srgbClr val="2D2D2D"/>
                </a:solidFill>
              </a:defRPr>
            </a:pPr>
            <a:r>
              <a:rPr dirty="0"/>
              <a:t>Outcome:</a:t>
            </a:r>
            <a:r>
              <a:rPr lang="en-IN" dirty="0"/>
              <a:t> </a:t>
            </a:r>
            <a:r>
              <a:rPr lang="en-US" dirty="0"/>
              <a:t>Cleaned weather dataset, statistical insights, temperature conversion, and visualizations such as line graphs and histograms to identify weather patterns and trends.</a:t>
            </a:r>
          </a:p>
          <a:p>
            <a:pPr>
              <a:spcAft>
                <a:spcPts val="1000"/>
              </a:spcAft>
              <a:defRPr sz="1500">
                <a:solidFill>
                  <a:srgbClr val="2D2D2D"/>
                </a:solidFill>
              </a:defRPr>
            </a:pPr>
            <a:endParaRPr dirty="0"/>
          </a:p>
        </p:txBody>
      </p:sp>
      <p:sp>
        <p:nvSpPr>
          <p:cNvPr id="5" name="Rounded Rectangle 4"/>
          <p:cNvSpPr/>
          <p:nvPr/>
        </p:nvSpPr>
        <p:spPr>
          <a:xfrm>
            <a:off x="7406640" y="2040195"/>
            <a:ext cx="4069080" cy="109728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noProof="1"/>
          </a:p>
        </p:txBody>
      </p:sp>
      <p:sp>
        <p:nvSpPr>
          <p:cNvPr id="6" name="TextBox 5"/>
          <p:cNvSpPr txBox="1"/>
          <p:nvPr/>
        </p:nvSpPr>
        <p:spPr>
          <a:xfrm>
            <a:off x="7571231" y="2168211"/>
            <a:ext cx="3739896" cy="553998"/>
          </a:xfrm>
          <a:prstGeom prst="rect">
            <a:avLst/>
          </a:prstGeom>
          <a:noFill/>
        </p:spPr>
        <p:txBody>
          <a:bodyPr wrap="square">
            <a:spAutoFit/>
          </a:bodyPr>
          <a:lstStyle/>
          <a:p>
            <a:pPr>
              <a:defRPr sz="1500" b="1">
                <a:solidFill>
                  <a:srgbClr val="1F3756"/>
                </a:solidFill>
              </a:defRPr>
            </a:pPr>
            <a:r>
              <a:rPr dirty="0"/>
              <a:t>Target Variable</a:t>
            </a:r>
            <a:endParaRPr lang="en-IN" dirty="0"/>
          </a:p>
          <a:p>
            <a:pPr>
              <a:defRPr sz="1500" b="1">
                <a:solidFill>
                  <a:srgbClr val="1F3756"/>
                </a:solidFill>
              </a:defRPr>
            </a:pPr>
            <a:r>
              <a:rPr lang="en-IN" dirty="0"/>
              <a:t>Temperature-Celsius to </a:t>
            </a:r>
            <a:r>
              <a:rPr lang="en-IN" dirty="0" err="1"/>
              <a:t>fahrenheit</a:t>
            </a:r>
            <a:endParaRPr dirty="0"/>
          </a:p>
        </p:txBody>
      </p:sp>
      <p:sp>
        <p:nvSpPr>
          <p:cNvPr id="7" name="Rounded Rectangle 6"/>
          <p:cNvSpPr/>
          <p:nvPr/>
        </p:nvSpPr>
        <p:spPr>
          <a:xfrm>
            <a:off x="7406640" y="3366075"/>
            <a:ext cx="4069080" cy="109728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571231" y="3494091"/>
            <a:ext cx="3739896" cy="707886"/>
          </a:xfrm>
          <a:prstGeom prst="rect">
            <a:avLst/>
          </a:prstGeom>
          <a:noFill/>
        </p:spPr>
        <p:txBody>
          <a:bodyPr wrap="square">
            <a:spAutoFit/>
          </a:bodyPr>
          <a:lstStyle/>
          <a:p>
            <a:pPr>
              <a:defRPr sz="1500" b="1">
                <a:solidFill>
                  <a:srgbClr val="1F3756"/>
                </a:solidFill>
              </a:defRPr>
            </a:pPr>
            <a:r>
              <a:rPr dirty="0"/>
              <a:t>Important Features</a:t>
            </a:r>
          </a:p>
          <a:p>
            <a:pPr>
              <a:defRPr sz="1250">
                <a:solidFill>
                  <a:srgbClr val="2D2D2D"/>
                </a:solidFill>
              </a:defRPr>
            </a:pPr>
            <a:r>
              <a:rPr lang="en-IN" dirty="0"/>
              <a:t>Data, Temperature, Humidity, Weather Condition, Temperature in Celsius &amp; Fahrenheit</a:t>
            </a:r>
            <a:endParaRPr dirty="0"/>
          </a:p>
        </p:txBody>
      </p:sp>
      <p:sp>
        <p:nvSpPr>
          <p:cNvPr id="9" name="Rounded Rectangle 8"/>
          <p:cNvSpPr/>
          <p:nvPr/>
        </p:nvSpPr>
        <p:spPr>
          <a:xfrm>
            <a:off x="7406640" y="4691955"/>
            <a:ext cx="4069080" cy="109728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571231" y="4819971"/>
            <a:ext cx="3739896" cy="707886"/>
          </a:xfrm>
          <a:prstGeom prst="rect">
            <a:avLst/>
          </a:prstGeom>
          <a:noFill/>
        </p:spPr>
        <p:txBody>
          <a:bodyPr wrap="square">
            <a:spAutoFit/>
          </a:bodyPr>
          <a:lstStyle/>
          <a:p>
            <a:pPr>
              <a:defRPr sz="1500" b="1">
                <a:solidFill>
                  <a:srgbClr val="1F3756"/>
                </a:solidFill>
              </a:defRPr>
            </a:pPr>
            <a:r>
              <a:rPr dirty="0"/>
              <a:t>Tools</a:t>
            </a:r>
          </a:p>
          <a:p>
            <a:pPr>
              <a:defRPr sz="1250">
                <a:solidFill>
                  <a:srgbClr val="2D2D2D"/>
                </a:solidFill>
              </a:defRPr>
            </a:pPr>
            <a:r>
              <a:rPr dirty="0"/>
              <a:t>Python </a:t>
            </a:r>
            <a:r>
              <a:rPr lang="en-IN" dirty="0"/>
              <a:t>,</a:t>
            </a:r>
            <a:r>
              <a:rPr dirty="0"/>
              <a:t> Pandas </a:t>
            </a:r>
            <a:r>
              <a:rPr lang="en-IN" dirty="0"/>
              <a:t>,</a:t>
            </a:r>
            <a:r>
              <a:rPr dirty="0"/>
              <a:t> NumPy </a:t>
            </a:r>
            <a:r>
              <a:rPr lang="en-IN" dirty="0"/>
              <a:t>,</a:t>
            </a:r>
            <a:r>
              <a:rPr dirty="0"/>
              <a:t> Matplotlib </a:t>
            </a:r>
            <a:r>
              <a:rPr lang="en-IN" dirty="0"/>
              <a:t>,CSV Dataset</a:t>
            </a:r>
            <a:r>
              <a:rPr dirty="0"/>
              <a:t> </a:t>
            </a:r>
            <a:r>
              <a:rPr lang="en-IN" dirty="0"/>
              <a:t>,</a:t>
            </a:r>
            <a:r>
              <a:rPr dirty="0"/>
              <a:t> Google Col</a:t>
            </a:r>
            <a:r>
              <a:rPr lang="en-IN" dirty="0"/>
              <a:t>a</a:t>
            </a:r>
            <a:r>
              <a:rPr dirty="0"/>
              <a:t>b</a:t>
            </a:r>
            <a:r>
              <a:rPr lang="en-IN" dirty="0"/>
              <a:t> </a:t>
            </a:r>
            <a:endParaRPr dirty="0"/>
          </a:p>
        </p:txBody>
      </p:sp>
      <p:pic>
        <p:nvPicPr>
          <p:cNvPr id="12" name="object 3">
            <a:extLst>
              <a:ext uri="{FF2B5EF4-FFF2-40B4-BE49-F238E27FC236}">
                <a16:creationId xmlns:a16="http://schemas.microsoft.com/office/drawing/2014/main" id="{58E52A97-EAE7-90F5-C23B-D7ED7B7B5638}"/>
              </a:ext>
            </a:extLst>
          </p:cNvPr>
          <p:cNvPicPr/>
          <p:nvPr/>
        </p:nvPicPr>
        <p:blipFill>
          <a:blip r:embed="rId2" cstate="print"/>
          <a:stretch>
            <a:fillRect/>
          </a:stretch>
        </p:blipFill>
        <p:spPr>
          <a:xfrm>
            <a:off x="290749" y="204310"/>
            <a:ext cx="1488889" cy="5943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95935" y="813401"/>
            <a:ext cx="10972800" cy="594360"/>
          </a:xfrm>
          <a:prstGeom prst="rect">
            <a:avLst/>
          </a:prstGeom>
          <a:noFill/>
        </p:spPr>
        <p:txBody>
          <a:bodyPr wrap="none">
            <a:spAutoFit/>
          </a:bodyPr>
          <a:lstStyle/>
          <a:p>
            <a:pPr>
              <a:defRPr sz="2600" b="1">
                <a:solidFill>
                  <a:srgbClr val="1F3756"/>
                </a:solidFill>
              </a:defRPr>
            </a:pPr>
            <a:r>
              <a:rPr lang="en-US" noProof="0"/>
              <a:t>DATASET SNAPSHOT — BEFORE &amp; AFTER CLEANING</a:t>
            </a:r>
          </a:p>
        </p:txBody>
      </p:sp>
      <p:graphicFrame>
        <p:nvGraphicFramePr>
          <p:cNvPr id="4" name="Table 3"/>
          <p:cNvGraphicFramePr>
            <a:graphicFrameLocks noGrp="1"/>
          </p:cNvGraphicFramePr>
          <p:nvPr>
            <p:extLst>
              <p:ext uri="{D42A27DB-BD31-4B8C-83A1-F6EECF244321}">
                <p14:modId xmlns:p14="http://schemas.microsoft.com/office/powerpoint/2010/main" val="302444818"/>
              </p:ext>
            </p:extLst>
          </p:nvPr>
        </p:nvGraphicFramePr>
        <p:xfrm>
          <a:off x="471983" y="1832833"/>
          <a:ext cx="5135880" cy="3442270"/>
        </p:xfrm>
        <a:graphic>
          <a:graphicData uri="http://schemas.openxmlformats.org/drawingml/2006/table">
            <a:tbl>
              <a:tblPr firstRow="1" bandRow="1">
                <a:tableStyleId>{5C22544A-7EE6-4342-B048-85BDC9FD1C3A}</a:tableStyleId>
              </a:tblPr>
              <a:tblGrid>
                <a:gridCol w="1797558">
                  <a:extLst>
                    <a:ext uri="{9D8B030D-6E8A-4147-A177-3AD203B41FA5}">
                      <a16:colId xmlns:a16="http://schemas.microsoft.com/office/drawing/2014/main" val="20000"/>
                    </a:ext>
                  </a:extLst>
                </a:gridCol>
                <a:gridCol w="1626362">
                  <a:extLst>
                    <a:ext uri="{9D8B030D-6E8A-4147-A177-3AD203B41FA5}">
                      <a16:colId xmlns:a16="http://schemas.microsoft.com/office/drawing/2014/main" val="20001"/>
                    </a:ext>
                  </a:extLst>
                </a:gridCol>
                <a:gridCol w="1711960">
                  <a:extLst>
                    <a:ext uri="{9D8B030D-6E8A-4147-A177-3AD203B41FA5}">
                      <a16:colId xmlns:a16="http://schemas.microsoft.com/office/drawing/2014/main" val="20002"/>
                    </a:ext>
                  </a:extLst>
                </a:gridCol>
              </a:tblGrid>
              <a:tr h="544359">
                <a:tc>
                  <a:txBody>
                    <a:bodyPr/>
                    <a:lstStyle/>
                    <a:p>
                      <a:pPr>
                        <a:defRPr sz="1300" b="1">
                          <a:solidFill>
                            <a:srgbClr val="FFFFFF"/>
                          </a:solidFill>
                        </a:defRPr>
                      </a:pPr>
                      <a:r>
                        <a:t>Check</a:t>
                      </a:r>
                    </a:p>
                  </a:txBody>
                  <a:tcPr>
                    <a:solidFill>
                      <a:srgbClr val="1F3756"/>
                    </a:solidFill>
                  </a:tcPr>
                </a:tc>
                <a:tc>
                  <a:txBody>
                    <a:bodyPr/>
                    <a:lstStyle/>
                    <a:p>
                      <a:pPr>
                        <a:defRPr sz="1300" b="1">
                          <a:solidFill>
                            <a:srgbClr val="FFFFFF"/>
                          </a:solidFill>
                        </a:defRPr>
                      </a:pPr>
                      <a:r>
                        <a:t>Before</a:t>
                      </a:r>
                    </a:p>
                  </a:txBody>
                  <a:tcPr>
                    <a:solidFill>
                      <a:srgbClr val="1F3756"/>
                    </a:solidFill>
                  </a:tcPr>
                </a:tc>
                <a:tc>
                  <a:txBody>
                    <a:bodyPr/>
                    <a:lstStyle/>
                    <a:p>
                      <a:pPr>
                        <a:defRPr sz="1300" b="1">
                          <a:solidFill>
                            <a:srgbClr val="FFFFFF"/>
                          </a:solidFill>
                        </a:defRPr>
                      </a:pPr>
                      <a:r>
                        <a:t>After</a:t>
                      </a:r>
                    </a:p>
                  </a:txBody>
                  <a:tcPr>
                    <a:solidFill>
                      <a:srgbClr val="1F3756"/>
                    </a:solidFill>
                  </a:tcPr>
                </a:tc>
                <a:extLst>
                  <a:ext uri="{0D108BD9-81ED-4DB2-BD59-A6C34878D82A}">
                    <a16:rowId xmlns:a16="http://schemas.microsoft.com/office/drawing/2014/main" val="10000"/>
                  </a:ext>
                </a:extLst>
              </a:tr>
              <a:tr h="544359">
                <a:tc>
                  <a:txBody>
                    <a:bodyPr/>
                    <a:lstStyle/>
                    <a:p>
                      <a:pPr>
                        <a:defRPr sz="1300">
                          <a:solidFill>
                            <a:srgbClr val="2D2D2D"/>
                          </a:solidFill>
                        </a:defRPr>
                      </a:pPr>
                      <a:r>
                        <a:t>Rows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sz="1300">
                          <a:solidFill>
                            <a:srgbClr val="2D2D2D"/>
                          </a:solidFill>
                        </a:defRPr>
                      </a:pPr>
                      <a:r>
                        <a:rPr lang="en-IN" dirty="0"/>
                        <a:t>Original records</a:t>
                      </a:r>
                    </a:p>
                    <a:p>
                      <a:pPr>
                        <a:defRPr sz="1300">
                          <a:solidFill>
                            <a:srgbClr val="2D2D2D"/>
                          </a:solidFill>
                        </a:defRPr>
                      </a:pPr>
                      <a:endParaRPr dirty="0"/>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sz="1300">
                          <a:solidFill>
                            <a:srgbClr val="2D2D2D"/>
                          </a:solidFill>
                        </a:defRPr>
                      </a:pPr>
                      <a:r>
                        <a:rPr lang="en-IN" dirty="0"/>
                        <a:t>Cleaned records</a:t>
                      </a:r>
                    </a:p>
                    <a:p>
                      <a:pPr>
                        <a:defRPr sz="1300">
                          <a:solidFill>
                            <a:srgbClr val="2D2D2D"/>
                          </a:solidFill>
                        </a:defRPr>
                      </a:pPr>
                      <a:endParaRPr dirty="0"/>
                    </a:p>
                  </a:txBody>
                  <a:tcPr/>
                </a:tc>
                <a:extLst>
                  <a:ext uri="{0D108BD9-81ED-4DB2-BD59-A6C34878D82A}">
                    <a16:rowId xmlns:a16="http://schemas.microsoft.com/office/drawing/2014/main" val="10001"/>
                  </a:ext>
                </a:extLst>
              </a:tr>
              <a:tr h="720475">
                <a:tc>
                  <a:txBody>
                    <a:bodyPr/>
                    <a:lstStyle/>
                    <a:p>
                      <a:pPr>
                        <a:defRPr sz="1300">
                          <a:solidFill>
                            <a:srgbClr val="2D2D2D"/>
                          </a:solidFill>
                        </a:defRPr>
                      </a:pPr>
                      <a:r>
                        <a:t>Columns</a:t>
                      </a: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sz="1300">
                          <a:solidFill>
                            <a:srgbClr val="2D2D2D"/>
                          </a:solidFill>
                        </a:defRPr>
                      </a:pPr>
                      <a:r>
                        <a:rPr lang="en-IN" dirty="0"/>
                        <a:t>Date, Temperature, Humidity, Weather</a:t>
                      </a:r>
                    </a:p>
                    <a:p>
                      <a:pPr>
                        <a:defRPr sz="1300">
                          <a:solidFill>
                            <a:srgbClr val="2D2D2D"/>
                          </a:solidFill>
                        </a:defRPr>
                      </a:pPr>
                      <a:endParaRPr dirty="0"/>
                    </a:p>
                  </a:txBody>
                  <a:tcPr/>
                </a:tc>
                <a:tc>
                  <a:txBody>
                    <a:bodyPr/>
                    <a:lstStyle/>
                    <a:p>
                      <a:pPr>
                        <a:defRPr sz="1300">
                          <a:solidFill>
                            <a:srgbClr val="2D2D2D"/>
                          </a:solidFill>
                        </a:defRPr>
                      </a:pPr>
                      <a:r>
                        <a:rPr lang="en-IN" dirty="0"/>
                        <a:t>Same</a:t>
                      </a:r>
                      <a:endParaRPr dirty="0"/>
                    </a:p>
                  </a:txBody>
                  <a:tcPr/>
                </a:tc>
                <a:extLst>
                  <a:ext uri="{0D108BD9-81ED-4DB2-BD59-A6C34878D82A}">
                    <a16:rowId xmlns:a16="http://schemas.microsoft.com/office/drawing/2014/main" val="10002"/>
                  </a:ext>
                </a:extLst>
              </a:tr>
              <a:tr h="544359">
                <a:tc>
                  <a:txBody>
                    <a:bodyPr/>
                    <a:lstStyle/>
                    <a:p>
                      <a:pPr>
                        <a:defRPr sz="1300">
                          <a:solidFill>
                            <a:srgbClr val="2D2D2D"/>
                          </a:solidFill>
                        </a:defRPr>
                      </a:pPr>
                      <a:r>
                        <a:t>Missing values</a:t>
                      </a:r>
                    </a:p>
                  </a:txBody>
                  <a:tcPr/>
                </a:tc>
                <a:tc>
                  <a:txBody>
                    <a:bodyPr/>
                    <a:lstStyle/>
                    <a:p>
                      <a:pPr>
                        <a:defRPr sz="1300">
                          <a:solidFill>
                            <a:srgbClr val="2D2D2D"/>
                          </a:solidFill>
                        </a:defRPr>
                      </a:pPr>
                      <a:r>
                        <a:rPr lang="en-IN" dirty="0"/>
                        <a:t>Present</a:t>
                      </a:r>
                      <a:endParaRPr dirty="0"/>
                    </a:p>
                  </a:txBody>
                  <a:tcPr/>
                </a:tc>
                <a:tc>
                  <a:txBody>
                    <a:bodyPr/>
                    <a:lstStyle/>
                    <a:p>
                      <a:pPr>
                        <a:defRPr sz="1300">
                          <a:solidFill>
                            <a:srgbClr val="2D2D2D"/>
                          </a:solidFill>
                        </a:defRPr>
                      </a:pPr>
                      <a:r>
                        <a:t>0</a:t>
                      </a:r>
                    </a:p>
                  </a:txBody>
                  <a:tcPr/>
                </a:tc>
                <a:extLst>
                  <a:ext uri="{0D108BD9-81ED-4DB2-BD59-A6C34878D82A}">
                    <a16:rowId xmlns:a16="http://schemas.microsoft.com/office/drawing/2014/main" val="10003"/>
                  </a:ext>
                </a:extLst>
              </a:tr>
              <a:tr h="544359">
                <a:tc>
                  <a:txBody>
                    <a:bodyPr/>
                    <a:lstStyle/>
                    <a:p>
                      <a:pPr>
                        <a:defRPr sz="1300">
                          <a:solidFill>
                            <a:srgbClr val="2D2D2D"/>
                          </a:solidFill>
                        </a:defRPr>
                      </a:pPr>
                      <a:r>
                        <a:t>Duplicate rows</a:t>
                      </a:r>
                    </a:p>
                  </a:txBody>
                  <a:tcPr/>
                </a:tc>
                <a:tc>
                  <a:txBody>
                    <a:bodyPr/>
                    <a:lstStyle/>
                    <a:p>
                      <a:pPr>
                        <a:defRPr sz="1300">
                          <a:solidFill>
                            <a:srgbClr val="2D2D2D"/>
                          </a:solidFill>
                        </a:defRPr>
                      </a:pPr>
                      <a:r>
                        <a:rPr lang="en-IN" dirty="0"/>
                        <a:t>Present</a:t>
                      </a:r>
                      <a:endParaRPr dirty="0"/>
                    </a:p>
                  </a:txBody>
                  <a:tcPr/>
                </a:tc>
                <a:tc>
                  <a:txBody>
                    <a:bodyPr/>
                    <a:lstStyle/>
                    <a:p>
                      <a:pPr>
                        <a:defRPr sz="1300">
                          <a:solidFill>
                            <a:srgbClr val="2D2D2D"/>
                          </a:solidFill>
                        </a:defRPr>
                      </a:pPr>
                      <a:r>
                        <a:t>0</a:t>
                      </a:r>
                    </a:p>
                  </a:txBody>
                  <a:tcPr/>
                </a:tc>
                <a:extLst>
                  <a:ext uri="{0D108BD9-81ED-4DB2-BD59-A6C34878D82A}">
                    <a16:rowId xmlns:a16="http://schemas.microsoft.com/office/drawing/2014/main" val="10004"/>
                  </a:ext>
                </a:extLst>
              </a:tr>
              <a:tr h="544359">
                <a:tc>
                  <a:txBody>
                    <a:bodyPr/>
                    <a:lstStyle/>
                    <a:p>
                      <a:pPr>
                        <a:defRPr sz="1300">
                          <a:solidFill>
                            <a:srgbClr val="2D2D2D"/>
                          </a:solidFill>
                        </a:defRPr>
                      </a:pPr>
                      <a:r>
                        <a:rPr lang="en-IN" dirty="0"/>
                        <a:t>Weather condition</a:t>
                      </a:r>
                      <a:r>
                        <a:rPr dirty="0"/>
                        <a:t> distribution</a:t>
                      </a:r>
                    </a:p>
                  </a:txBody>
                  <a:tcPr/>
                </a:tc>
                <a:tc>
                  <a:txBody>
                    <a:bodyPr/>
                    <a:lstStyle/>
                    <a:p>
                      <a:pPr>
                        <a:defRPr sz="1300">
                          <a:solidFill>
                            <a:srgbClr val="2D2D2D"/>
                          </a:solidFill>
                        </a:defRPr>
                      </a:pPr>
                      <a:r>
                        <a:rPr lang="en-IN" dirty="0"/>
                        <a:t>Different weather categories</a:t>
                      </a:r>
                      <a:endParaRPr dirty="0"/>
                    </a:p>
                  </a:txBody>
                  <a:tcPr/>
                </a:tc>
                <a:tc>
                  <a:txBody>
                    <a:bodyPr/>
                    <a:lstStyle/>
                    <a:p>
                      <a:pPr>
                        <a:defRPr sz="1300">
                          <a:solidFill>
                            <a:srgbClr val="2D2D2D"/>
                          </a:solidFill>
                        </a:defRPr>
                      </a:pPr>
                      <a:r>
                        <a:rPr lang="en-IN" dirty="0"/>
                        <a:t>Cleaned category counts</a:t>
                      </a:r>
                      <a:endParaRPr dirty="0"/>
                    </a:p>
                  </a:txBody>
                  <a:tcPr/>
                </a:tc>
                <a:extLst>
                  <a:ext uri="{0D108BD9-81ED-4DB2-BD59-A6C34878D82A}">
                    <a16:rowId xmlns:a16="http://schemas.microsoft.com/office/drawing/2014/main" val="10005"/>
                  </a:ext>
                </a:extLst>
              </a:tr>
            </a:tbl>
          </a:graphicData>
        </a:graphic>
      </p:graphicFrame>
      <p:pic>
        <p:nvPicPr>
          <p:cNvPr id="7" name="object 3">
            <a:extLst>
              <a:ext uri="{FF2B5EF4-FFF2-40B4-BE49-F238E27FC236}">
                <a16:creationId xmlns:a16="http://schemas.microsoft.com/office/drawing/2014/main" id="{DD64E89F-49CA-A014-6EA3-EAE0C3F39843}"/>
              </a:ext>
            </a:extLst>
          </p:cNvPr>
          <p:cNvPicPr/>
          <p:nvPr/>
        </p:nvPicPr>
        <p:blipFill>
          <a:blip r:embed="rId2" cstate="print"/>
          <a:stretch>
            <a:fillRect/>
          </a:stretch>
        </p:blipFill>
        <p:spPr>
          <a:xfrm>
            <a:off x="290749" y="204310"/>
            <a:ext cx="1488889" cy="594359"/>
          </a:xfrm>
          <a:prstGeom prst="rect">
            <a:avLst/>
          </a:prstGeom>
        </p:spPr>
      </p:pic>
      <p:sp>
        <p:nvSpPr>
          <p:cNvPr id="8" name="Rectangle 7">
            <a:extLst>
              <a:ext uri="{FF2B5EF4-FFF2-40B4-BE49-F238E27FC236}">
                <a16:creationId xmlns:a16="http://schemas.microsoft.com/office/drawing/2014/main" id="{F71577CB-F51F-3F7F-09B4-3F4D17285FC2}"/>
              </a:ext>
            </a:extLst>
          </p:cNvPr>
          <p:cNvSpPr/>
          <p:nvPr/>
        </p:nvSpPr>
        <p:spPr>
          <a:xfrm>
            <a:off x="6431280" y="2072640"/>
            <a:ext cx="5135880" cy="3816096"/>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
        <p:nvSpPr>
          <p:cNvPr id="12" name="TextBox 11">
            <a:extLst>
              <a:ext uri="{FF2B5EF4-FFF2-40B4-BE49-F238E27FC236}">
                <a16:creationId xmlns:a16="http://schemas.microsoft.com/office/drawing/2014/main" id="{AD838C14-2C1D-5755-5EE4-98BB1D4A3E75}"/>
              </a:ext>
            </a:extLst>
          </p:cNvPr>
          <p:cNvSpPr txBox="1"/>
          <p:nvPr/>
        </p:nvSpPr>
        <p:spPr>
          <a:xfrm>
            <a:off x="6192672" y="1407761"/>
            <a:ext cx="5527345" cy="4708981"/>
          </a:xfrm>
          <a:prstGeom prst="rect">
            <a:avLst/>
          </a:prstGeom>
          <a:noFill/>
          <a:ln>
            <a:solidFill>
              <a:schemeClr val="tx1"/>
            </a:solidFill>
          </a:ln>
        </p:spPr>
        <p:txBody>
          <a:bodyPr wrap="square">
            <a:spAutoFit/>
          </a:bodyPr>
          <a:lstStyle/>
          <a:p>
            <a:r>
              <a:rPr lang="en-IN" sz="1200" noProof="1">
                <a:latin typeface="Consolas" panose="020B0609020204030204" pitchFamily="49" charset="0"/>
                <a:cs typeface="Courier New" panose="02070309020205020404" pitchFamily="49" charset="0"/>
              </a:rPr>
              <a:t>import pandas as pd</a:t>
            </a:r>
          </a:p>
          <a:p>
            <a:r>
              <a:rPr lang="en-IN" sz="1200" noProof="1">
                <a:latin typeface="Consolas" panose="020B0609020204030204" pitchFamily="49" charset="0"/>
                <a:cs typeface="Courier New" panose="02070309020205020404" pitchFamily="49" charset="0"/>
              </a:rPr>
              <a:t>from google.colab import files</a:t>
            </a:r>
          </a:p>
          <a:p>
            <a:endParaRPr lang="en-IN" sz="1200" noProof="1">
              <a:latin typeface="Consolas" panose="020B0609020204030204" pitchFamily="49" charset="0"/>
              <a:cs typeface="Courier New" panose="02070309020205020404" pitchFamily="49" charset="0"/>
            </a:endParaRPr>
          </a:p>
          <a:p>
            <a:r>
              <a:rPr lang="en-IN" sz="1200" noProof="1">
                <a:latin typeface="Consolas" panose="020B0609020204030204" pitchFamily="49" charset="0"/>
                <a:cs typeface="Courier New" panose="02070309020205020404" pitchFamily="49" charset="0"/>
              </a:rPr>
              <a:t>files.upload()</a:t>
            </a:r>
          </a:p>
          <a:p>
            <a:r>
              <a:rPr lang="en-IN" sz="1200" noProof="1">
                <a:latin typeface="Consolas" panose="020B0609020204030204" pitchFamily="49" charset="0"/>
                <a:cs typeface="Courier New" panose="02070309020205020404" pitchFamily="49" charset="0"/>
              </a:rPr>
              <a:t>df = pd.read_csv("climate_code.csv")</a:t>
            </a:r>
          </a:p>
          <a:p>
            <a:endParaRPr lang="en-IN" sz="1200" noProof="1">
              <a:latin typeface="Consolas" panose="020B0609020204030204" pitchFamily="49" charset="0"/>
              <a:cs typeface="Courier New" panose="02070309020205020404" pitchFamily="49" charset="0"/>
            </a:endParaRPr>
          </a:p>
          <a:p>
            <a:r>
              <a:rPr lang="en-IN" sz="1200" noProof="1">
                <a:latin typeface="Consolas" panose="020B0609020204030204" pitchFamily="49" charset="0"/>
                <a:cs typeface="Courier New" panose="02070309020205020404" pitchFamily="49" charset="0"/>
              </a:rPr>
              <a:t>print("First 5 Records:\n", df.head())</a:t>
            </a:r>
          </a:p>
          <a:p>
            <a:r>
              <a:rPr lang="en-IN" sz="1200" noProof="1">
                <a:latin typeface="Consolas" panose="020B0609020204030204" pitchFamily="49" charset="0"/>
                <a:cs typeface="Courier New" panose="02070309020205020404" pitchFamily="49" charset="0"/>
              </a:rPr>
              <a:t>print("\nShape before cleaning:", df.shape)</a:t>
            </a:r>
          </a:p>
          <a:p>
            <a:r>
              <a:rPr lang="en-IN" sz="1200" noProof="1">
                <a:latin typeface="Consolas" panose="020B0609020204030204" pitchFamily="49" charset="0"/>
                <a:cs typeface="Courier New" panose="02070309020205020404" pitchFamily="49" charset="0"/>
              </a:rPr>
              <a:t>print("\nMissing Values Before Cleaning:\n", df.isnull().sum())</a:t>
            </a:r>
          </a:p>
          <a:p>
            <a:r>
              <a:rPr lang="en-IN" sz="1200" noProof="1">
                <a:latin typeface="Consolas" panose="020B0609020204030204" pitchFamily="49" charset="0"/>
                <a:cs typeface="Courier New" panose="02070309020205020404" pitchFamily="49" charset="0"/>
              </a:rPr>
              <a:t>print("\nDuplicate Rows Detected:", df.duplicated().sum())</a:t>
            </a:r>
          </a:p>
          <a:p>
            <a:endParaRPr lang="en-IN" sz="1200" noProof="1">
              <a:latin typeface="Consolas" panose="020B0609020204030204" pitchFamily="49" charset="0"/>
              <a:cs typeface="Courier New" panose="02070309020205020404" pitchFamily="49" charset="0"/>
            </a:endParaRPr>
          </a:p>
          <a:p>
            <a:r>
              <a:rPr lang="en-IN" sz="1200" noProof="1">
                <a:latin typeface="Consolas" panose="020B0609020204030204" pitchFamily="49" charset="0"/>
                <a:cs typeface="Courier New" panose="02070309020205020404" pitchFamily="49" charset="0"/>
              </a:rPr>
              <a:t># Cleaning</a:t>
            </a:r>
          </a:p>
          <a:p>
            <a:r>
              <a:rPr lang="en-IN" sz="1200" noProof="1">
                <a:latin typeface="Consolas" panose="020B0609020204030204" pitchFamily="49" charset="0"/>
                <a:cs typeface="Courier New" panose="02070309020205020404" pitchFamily="49" charset="0"/>
              </a:rPr>
              <a:t>df = df.drop_duplicates()</a:t>
            </a:r>
          </a:p>
          <a:p>
            <a:r>
              <a:rPr lang="en-IN" sz="1200" noProof="1">
                <a:latin typeface="Consolas" panose="020B0609020204030204" pitchFamily="49" charset="0"/>
                <a:cs typeface="Courier New" panose="02070309020205020404" pitchFamily="49" charset="0"/>
              </a:rPr>
              <a:t>df["Temperature"] = df["Temperature"].fillna(df["Temperature"].median())</a:t>
            </a:r>
          </a:p>
          <a:p>
            <a:r>
              <a:rPr lang="en-IN" sz="1200" noProof="1">
                <a:latin typeface="Consolas" panose="020B0609020204030204" pitchFamily="49" charset="0"/>
                <a:cs typeface="Courier New" panose="02070309020205020404" pitchFamily="49" charset="0"/>
              </a:rPr>
              <a:t>df["Humidity"] = df["Humidity"].fillna(df["Humidity"].median())</a:t>
            </a:r>
          </a:p>
          <a:p>
            <a:r>
              <a:rPr lang="en-IN" sz="1200" noProof="1">
                <a:latin typeface="Consolas" panose="020B0609020204030204" pitchFamily="49" charset="0"/>
                <a:cs typeface="Courier New" panose="02070309020205020404" pitchFamily="49" charset="0"/>
              </a:rPr>
              <a:t>df["Weather"] = df["Weather"].fillna(df["Weather"].mode()[0])</a:t>
            </a:r>
          </a:p>
          <a:p>
            <a:r>
              <a:rPr lang="en-IN" sz="1200" noProof="1">
                <a:latin typeface="Consolas" panose="020B0609020204030204" pitchFamily="49" charset="0"/>
                <a:cs typeface="Courier New" panose="02070309020205020404" pitchFamily="49" charset="0"/>
              </a:rPr>
              <a:t>df["Date"] = pd.to_datetime(df["Date"], errors="coerce")</a:t>
            </a:r>
          </a:p>
          <a:p>
            <a:r>
              <a:rPr lang="en-IN" sz="1200" noProof="1">
                <a:latin typeface="Consolas" panose="020B0609020204030204" pitchFamily="49" charset="0"/>
                <a:cs typeface="Courier New" panose="02070309020205020404" pitchFamily="49" charset="0"/>
              </a:rPr>
              <a:t>df = df.dropna(subset=["Date"]).sort_values("Date")</a:t>
            </a:r>
          </a:p>
          <a:p>
            <a:endParaRPr lang="en-IN" sz="1200" noProof="1">
              <a:latin typeface="Consolas" panose="020B0609020204030204" pitchFamily="49" charset="0"/>
              <a:cs typeface="Courier New" panose="02070309020205020404" pitchFamily="49" charset="0"/>
            </a:endParaRPr>
          </a:p>
          <a:p>
            <a:r>
              <a:rPr lang="en-IN" sz="1200" noProof="1">
                <a:latin typeface="Consolas" panose="020B0609020204030204" pitchFamily="49" charset="0"/>
                <a:cs typeface="Courier New" panose="02070309020205020404" pitchFamily="49" charset="0"/>
              </a:rPr>
              <a:t>print("\nAfter Cleaning:")</a:t>
            </a:r>
          </a:p>
          <a:p>
            <a:r>
              <a:rPr lang="en-IN" sz="1200" noProof="1">
                <a:latin typeface="Consolas" panose="020B0609020204030204" pitchFamily="49" charset="0"/>
                <a:cs typeface="Courier New" panose="02070309020205020404" pitchFamily="49" charset="0"/>
              </a:rPr>
              <a:t>print("Shape:", df.shape)</a:t>
            </a:r>
          </a:p>
          <a:p>
            <a:r>
              <a:rPr lang="en-IN" sz="1200" noProof="1">
                <a:latin typeface="Consolas" panose="020B0609020204030204" pitchFamily="49" charset="0"/>
                <a:cs typeface="Courier New" panose="02070309020205020404" pitchFamily="49" charset="0"/>
              </a:rPr>
              <a:t>print("Missing Values:", df.isnull().sum().sum())</a:t>
            </a:r>
          </a:p>
          <a:p>
            <a:r>
              <a:rPr lang="en-IN" sz="1200" noProof="1">
                <a:latin typeface="Consolas" panose="020B0609020204030204" pitchFamily="49" charset="0"/>
                <a:cs typeface="Courier New" panose="02070309020205020404" pitchFamily="49" charset="0"/>
              </a:rPr>
              <a:t>print("Duplicate Rows:", df.duplicated().sum())</a:t>
            </a:r>
          </a:p>
          <a:p>
            <a:r>
              <a:rPr lang="en-IN" sz="1200" noProof="1">
                <a:latin typeface="Consolas" panose="020B0609020204030204" pitchFamily="49" charset="0"/>
                <a:cs typeface="Courier New" panose="02070309020205020404" pitchFamily="49" charset="0"/>
              </a:rPr>
              <a:t>print("\nCleaned Dataset:\n", df)</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947672" y="232831"/>
            <a:ext cx="10972800" cy="594360"/>
          </a:xfrm>
          <a:prstGeom prst="rect">
            <a:avLst/>
          </a:prstGeom>
          <a:noFill/>
        </p:spPr>
        <p:txBody>
          <a:bodyPr wrap="none">
            <a:spAutoFit/>
          </a:bodyPr>
          <a:lstStyle/>
          <a:p>
            <a:pPr>
              <a:defRPr sz="2600" b="1">
                <a:solidFill>
                  <a:srgbClr val="1F3756"/>
                </a:solidFill>
              </a:defRPr>
            </a:pPr>
            <a:r>
              <a:rPr dirty="0"/>
              <a:t>IMPLEMENTATION — DATA PREPROCESSING WITH EVIDENCE</a:t>
            </a:r>
          </a:p>
        </p:txBody>
      </p:sp>
      <p:sp>
        <p:nvSpPr>
          <p:cNvPr id="5" name="Rounded Rectangle 4"/>
          <p:cNvSpPr/>
          <p:nvPr/>
        </p:nvSpPr>
        <p:spPr>
          <a:xfrm>
            <a:off x="7856343" y="1174667"/>
            <a:ext cx="4075471"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044054" y="1302683"/>
            <a:ext cx="3831335" cy="704088"/>
          </a:xfrm>
          <a:prstGeom prst="rect">
            <a:avLst/>
          </a:prstGeom>
          <a:noFill/>
        </p:spPr>
        <p:txBody>
          <a:bodyPr wrap="square">
            <a:spAutoFit/>
          </a:bodyPr>
          <a:lstStyle/>
          <a:p>
            <a:pPr>
              <a:defRPr sz="1500" b="1">
                <a:solidFill>
                  <a:srgbClr val="1F3756"/>
                </a:solidFill>
              </a:defRPr>
            </a:pPr>
            <a:r>
              <a:rPr dirty="0"/>
              <a:t>Step 1 — Duplicates</a:t>
            </a:r>
          </a:p>
          <a:p>
            <a:pPr>
              <a:defRPr sz="1250">
                <a:solidFill>
                  <a:srgbClr val="2D2D2D"/>
                </a:solidFill>
              </a:defRPr>
            </a:pPr>
            <a:r>
              <a:rPr dirty="0"/>
              <a:t>Detected and removed duplicate application rows.</a:t>
            </a:r>
          </a:p>
        </p:txBody>
      </p:sp>
      <p:sp>
        <p:nvSpPr>
          <p:cNvPr id="7" name="Rounded Rectangle 6"/>
          <p:cNvSpPr/>
          <p:nvPr/>
        </p:nvSpPr>
        <p:spPr>
          <a:xfrm>
            <a:off x="7856343" y="2410872"/>
            <a:ext cx="4160520"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978410" y="2522774"/>
            <a:ext cx="3831335" cy="704088"/>
          </a:xfrm>
          <a:prstGeom prst="rect">
            <a:avLst/>
          </a:prstGeom>
          <a:noFill/>
        </p:spPr>
        <p:txBody>
          <a:bodyPr wrap="square">
            <a:spAutoFit/>
          </a:bodyPr>
          <a:lstStyle/>
          <a:p>
            <a:pPr>
              <a:defRPr sz="1500" b="1">
                <a:solidFill>
                  <a:srgbClr val="1F3756"/>
                </a:solidFill>
              </a:defRPr>
            </a:pPr>
            <a:r>
              <a:rPr dirty="0"/>
              <a:t>Step 2 — Missing Values</a:t>
            </a:r>
          </a:p>
          <a:p>
            <a:pPr>
              <a:defRPr sz="1250">
                <a:solidFill>
                  <a:srgbClr val="2D2D2D"/>
                </a:solidFill>
              </a:defRPr>
            </a:pPr>
            <a:r>
              <a:rPr dirty="0"/>
              <a:t>Categorical → mode; numeric → median.</a:t>
            </a:r>
          </a:p>
        </p:txBody>
      </p:sp>
      <p:sp>
        <p:nvSpPr>
          <p:cNvPr id="9" name="Rounded Rectangle 8"/>
          <p:cNvSpPr/>
          <p:nvPr/>
        </p:nvSpPr>
        <p:spPr>
          <a:xfrm>
            <a:off x="7879461" y="3757616"/>
            <a:ext cx="4160520"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978409" y="3932449"/>
            <a:ext cx="3831335" cy="704088"/>
          </a:xfrm>
          <a:prstGeom prst="rect">
            <a:avLst/>
          </a:prstGeom>
          <a:noFill/>
        </p:spPr>
        <p:txBody>
          <a:bodyPr wrap="square">
            <a:spAutoFit/>
          </a:bodyPr>
          <a:lstStyle/>
          <a:p>
            <a:pPr>
              <a:defRPr sz="1500" b="1">
                <a:solidFill>
                  <a:srgbClr val="1F3756"/>
                </a:solidFill>
              </a:defRPr>
            </a:pPr>
            <a:r>
              <a:rPr dirty="0"/>
              <a:t>Step 3 — Final Check</a:t>
            </a:r>
          </a:p>
          <a:p>
            <a:pPr>
              <a:defRPr sz="1250">
                <a:solidFill>
                  <a:srgbClr val="2D2D2D"/>
                </a:solidFill>
              </a:defRPr>
            </a:pPr>
            <a:r>
              <a:rPr dirty="0"/>
              <a:t>Re-checked null count and duplicate count.</a:t>
            </a:r>
          </a:p>
        </p:txBody>
      </p:sp>
      <p:sp>
        <p:nvSpPr>
          <p:cNvPr id="11" name="Rounded Rectangle 10"/>
          <p:cNvSpPr/>
          <p:nvPr/>
        </p:nvSpPr>
        <p:spPr>
          <a:xfrm>
            <a:off x="7856343" y="5065212"/>
            <a:ext cx="4160520"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12" name="TextBox 11"/>
          <p:cNvSpPr txBox="1"/>
          <p:nvPr/>
        </p:nvSpPr>
        <p:spPr>
          <a:xfrm>
            <a:off x="8020935" y="5114071"/>
            <a:ext cx="3831335" cy="707886"/>
          </a:xfrm>
          <a:prstGeom prst="rect">
            <a:avLst/>
          </a:prstGeom>
          <a:noFill/>
        </p:spPr>
        <p:txBody>
          <a:bodyPr wrap="square">
            <a:spAutoFit/>
          </a:bodyPr>
          <a:lstStyle/>
          <a:p>
            <a:pPr>
              <a:defRPr sz="1500" b="1">
                <a:solidFill>
                  <a:srgbClr val="1F3756"/>
                </a:solidFill>
              </a:defRPr>
            </a:pPr>
            <a:r>
              <a:rPr dirty="0"/>
              <a:t>Result</a:t>
            </a:r>
            <a:endParaRPr lang="en-US" dirty="0"/>
          </a:p>
          <a:p>
            <a:pPr>
              <a:defRPr sz="1250">
                <a:solidFill>
                  <a:srgbClr val="2D2D2D"/>
                </a:solidFill>
              </a:defRPr>
            </a:pPr>
            <a:r>
              <a:rPr lang="en-IN" dirty="0"/>
              <a:t>Clean dataset ready for</a:t>
            </a:r>
            <a:r>
              <a:rPr lang="en-US" dirty="0"/>
              <a:t>Clean and complete dataset ready for analysis and visualization.</a:t>
            </a:r>
          </a:p>
        </p:txBody>
      </p:sp>
      <p:pic>
        <p:nvPicPr>
          <p:cNvPr id="14" name="object 3">
            <a:extLst>
              <a:ext uri="{FF2B5EF4-FFF2-40B4-BE49-F238E27FC236}">
                <a16:creationId xmlns:a16="http://schemas.microsoft.com/office/drawing/2014/main" id="{77268E3B-BE5D-C03B-255E-00857DA182AD}"/>
              </a:ext>
            </a:extLst>
          </p:cNvPr>
          <p:cNvPicPr/>
          <p:nvPr/>
        </p:nvPicPr>
        <p:blipFill>
          <a:blip r:embed="rId2" cstate="print"/>
          <a:stretch>
            <a:fillRect/>
          </a:stretch>
        </p:blipFill>
        <p:spPr>
          <a:xfrm>
            <a:off x="290749" y="204310"/>
            <a:ext cx="1488889" cy="594359"/>
          </a:xfrm>
          <a:prstGeom prst="rect">
            <a:avLst/>
          </a:prstGeom>
        </p:spPr>
      </p:pic>
      <p:sp>
        <p:nvSpPr>
          <p:cNvPr id="13" name="Rectangle 12">
            <a:extLst>
              <a:ext uri="{FF2B5EF4-FFF2-40B4-BE49-F238E27FC236}">
                <a16:creationId xmlns:a16="http://schemas.microsoft.com/office/drawing/2014/main" id="{9C0F252D-A985-DFC5-71A7-2EF34AAFA03F}"/>
              </a:ext>
            </a:extLst>
          </p:cNvPr>
          <p:cNvSpPr/>
          <p:nvPr/>
        </p:nvSpPr>
        <p:spPr>
          <a:xfrm>
            <a:off x="810228" y="1770927"/>
            <a:ext cx="5741043" cy="4495173"/>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
        <p:nvSpPr>
          <p:cNvPr id="17" name="Rectangle 16">
            <a:extLst>
              <a:ext uri="{FF2B5EF4-FFF2-40B4-BE49-F238E27FC236}">
                <a16:creationId xmlns:a16="http://schemas.microsoft.com/office/drawing/2014/main" id="{3825E8A6-77E8-AA6C-2E6E-B1177AE6C757}"/>
              </a:ext>
            </a:extLst>
          </p:cNvPr>
          <p:cNvSpPr/>
          <p:nvPr/>
        </p:nvSpPr>
        <p:spPr>
          <a:xfrm>
            <a:off x="645635" y="1812291"/>
            <a:ext cx="5905636" cy="4453809"/>
          </a:xfrm>
          <a:prstGeom prst="rect">
            <a:avLst/>
          </a:prstGeom>
          <a:noFill/>
          <a:ln>
            <a:noFill/>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sp>
        <p:nvSpPr>
          <p:cNvPr id="18" name="TextBox 17">
            <a:extLst>
              <a:ext uri="{FF2B5EF4-FFF2-40B4-BE49-F238E27FC236}">
                <a16:creationId xmlns:a16="http://schemas.microsoft.com/office/drawing/2014/main" id="{1D5964B7-45AC-4093-7A9C-E5572F7BC62C}"/>
              </a:ext>
            </a:extLst>
          </p:cNvPr>
          <p:cNvSpPr txBox="1"/>
          <p:nvPr/>
        </p:nvSpPr>
        <p:spPr>
          <a:xfrm>
            <a:off x="308393" y="756650"/>
            <a:ext cx="5660020" cy="369332"/>
          </a:xfrm>
          <a:prstGeom prst="rect">
            <a:avLst/>
          </a:prstGeom>
          <a:noFill/>
        </p:spPr>
        <p:txBody>
          <a:bodyPr wrap="square" rtlCol="0">
            <a:spAutoFit/>
          </a:bodyPr>
          <a:lstStyle/>
          <a:p>
            <a:r>
              <a:rPr lang="en-IN" dirty="0"/>
              <a:t>Execution output-Data cleaning</a:t>
            </a:r>
          </a:p>
        </p:txBody>
      </p:sp>
      <p:sp>
        <p:nvSpPr>
          <p:cNvPr id="22" name="Rectangle 21">
            <a:extLst>
              <a:ext uri="{FF2B5EF4-FFF2-40B4-BE49-F238E27FC236}">
                <a16:creationId xmlns:a16="http://schemas.microsoft.com/office/drawing/2014/main" id="{3F9BF675-278F-5A44-4CBC-F3D26542A0AA}"/>
              </a:ext>
            </a:extLst>
          </p:cNvPr>
          <p:cNvSpPr/>
          <p:nvPr/>
        </p:nvSpPr>
        <p:spPr>
          <a:xfrm>
            <a:off x="481042" y="1125981"/>
            <a:ext cx="7145064" cy="5527709"/>
          </a:xfrm>
          <a:prstGeom prst="rect">
            <a:avLst/>
          </a:prstGeom>
          <a:noFill/>
          <a:ln w="9525" cap="flat" cmpd="sng" algn="ctr">
            <a:solidFill>
              <a:schemeClr val="dk1"/>
            </a:solidFill>
            <a:prstDash val="solid"/>
            <a:round/>
            <a:headEnd type="none" w="med" len="med"/>
            <a:tailEnd type="none" w="med" len="med"/>
          </a:ln>
        </p:spPr>
        <p:style>
          <a:lnRef idx="0">
            <a:scrgbClr r="0" g="0" b="0"/>
          </a:lnRef>
          <a:fillRef idx="0">
            <a:scrgbClr r="0" g="0" b="0"/>
          </a:fillRef>
          <a:effectRef idx="0">
            <a:scrgbClr r="0" g="0" b="0"/>
          </a:effectRef>
          <a:fontRef idx="minor">
            <a:schemeClr val="dk1"/>
          </a:fontRef>
        </p:style>
        <p:txBody>
          <a:bodyPr rtlCol="0" anchor="ctr"/>
          <a:lstStyle/>
          <a:p>
            <a:pPr algn="ctr"/>
            <a:endParaRPr lang="en-IN"/>
          </a:p>
        </p:txBody>
      </p:sp>
      <p:pic>
        <p:nvPicPr>
          <p:cNvPr id="15" name="Picture 14" descr="A screenshot of a computer&#10;&#10;Description automatically generated">
            <a:extLst>
              <a:ext uri="{FF2B5EF4-FFF2-40B4-BE49-F238E27FC236}">
                <a16:creationId xmlns:a16="http://schemas.microsoft.com/office/drawing/2014/main" id="{10BC101C-E2BA-5762-C2FB-A51918308CD1}"/>
              </a:ext>
            </a:extLst>
          </p:cNvPr>
          <p:cNvPicPr>
            <a:picLocks noChangeAspect="1"/>
          </p:cNvPicPr>
          <p:nvPr/>
        </p:nvPicPr>
        <p:blipFill>
          <a:blip r:embed="rId3"/>
          <a:stretch>
            <a:fillRect/>
          </a:stretch>
        </p:blipFill>
        <p:spPr>
          <a:xfrm>
            <a:off x="504875" y="1167346"/>
            <a:ext cx="3839212" cy="2691868"/>
          </a:xfrm>
          <a:prstGeom prst="rect">
            <a:avLst/>
          </a:prstGeom>
        </p:spPr>
      </p:pic>
      <p:pic>
        <p:nvPicPr>
          <p:cNvPr id="19" name="Picture 18" descr="A screenshot of a computer&#10;&#10;Description automatically generated">
            <a:extLst>
              <a:ext uri="{FF2B5EF4-FFF2-40B4-BE49-F238E27FC236}">
                <a16:creationId xmlns:a16="http://schemas.microsoft.com/office/drawing/2014/main" id="{97002356-1376-5CEC-F609-385AA20B3C1B}"/>
              </a:ext>
            </a:extLst>
          </p:cNvPr>
          <p:cNvPicPr>
            <a:picLocks noChangeAspect="1"/>
          </p:cNvPicPr>
          <p:nvPr/>
        </p:nvPicPr>
        <p:blipFill>
          <a:blip r:embed="rId4"/>
          <a:stretch>
            <a:fillRect/>
          </a:stretch>
        </p:blipFill>
        <p:spPr>
          <a:xfrm>
            <a:off x="504875" y="3859215"/>
            <a:ext cx="3839212" cy="2794475"/>
          </a:xfrm>
          <a:prstGeom prst="rect">
            <a:avLst/>
          </a:prstGeom>
        </p:spPr>
      </p:pic>
      <p:pic>
        <p:nvPicPr>
          <p:cNvPr id="23" name="Picture 22" descr="A screenshot of a computer&#10;&#10;Description automatically generated">
            <a:extLst>
              <a:ext uri="{FF2B5EF4-FFF2-40B4-BE49-F238E27FC236}">
                <a16:creationId xmlns:a16="http://schemas.microsoft.com/office/drawing/2014/main" id="{D6AAE51B-CE8C-FC60-9792-F060A3353786}"/>
              </a:ext>
            </a:extLst>
          </p:cNvPr>
          <p:cNvPicPr>
            <a:picLocks noChangeAspect="1"/>
          </p:cNvPicPr>
          <p:nvPr/>
        </p:nvPicPr>
        <p:blipFill>
          <a:blip r:embed="rId5"/>
          <a:stretch>
            <a:fillRect/>
          </a:stretch>
        </p:blipFill>
        <p:spPr>
          <a:xfrm>
            <a:off x="4344087" y="1222120"/>
            <a:ext cx="3248651" cy="533543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CC99F21-75AF-7BBC-3418-01520196596D}"/>
              </a:ext>
            </a:extLst>
          </p:cNvPr>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object 3">
            <a:extLst>
              <a:ext uri="{FF2B5EF4-FFF2-40B4-BE49-F238E27FC236}">
                <a16:creationId xmlns:a16="http://schemas.microsoft.com/office/drawing/2014/main" id="{DC753196-ABDC-D50B-0492-E595A2DDE533}"/>
              </a:ext>
            </a:extLst>
          </p:cNvPr>
          <p:cNvPicPr/>
          <p:nvPr/>
        </p:nvPicPr>
        <p:blipFill>
          <a:blip r:embed="rId2" cstate="print"/>
          <a:stretch>
            <a:fillRect/>
          </a:stretch>
        </p:blipFill>
        <p:spPr>
          <a:xfrm>
            <a:off x="290749" y="204310"/>
            <a:ext cx="1488889" cy="594359"/>
          </a:xfrm>
          <a:prstGeom prst="rect">
            <a:avLst/>
          </a:prstGeom>
        </p:spPr>
      </p:pic>
      <p:sp>
        <p:nvSpPr>
          <p:cNvPr id="5" name="TextBox 4">
            <a:extLst>
              <a:ext uri="{FF2B5EF4-FFF2-40B4-BE49-F238E27FC236}">
                <a16:creationId xmlns:a16="http://schemas.microsoft.com/office/drawing/2014/main" id="{FB369C62-0D72-5FDC-8FC0-4C89EFFDF55E}"/>
              </a:ext>
            </a:extLst>
          </p:cNvPr>
          <p:cNvSpPr txBox="1"/>
          <p:nvPr/>
        </p:nvSpPr>
        <p:spPr>
          <a:xfrm>
            <a:off x="1180618" y="752386"/>
            <a:ext cx="10463514" cy="523220"/>
          </a:xfrm>
          <a:prstGeom prst="rect">
            <a:avLst/>
          </a:prstGeom>
          <a:noFill/>
        </p:spPr>
        <p:txBody>
          <a:bodyPr wrap="square" rtlCol="0">
            <a:spAutoFit/>
          </a:bodyPr>
          <a:lstStyle/>
          <a:p>
            <a:r>
              <a:rPr lang="en-IN" sz="2800" b="1" dirty="0">
                <a:solidFill>
                  <a:schemeClr val="tx2">
                    <a:lumMod val="75000"/>
                  </a:schemeClr>
                </a:solidFill>
              </a:rPr>
              <a:t>IMPLEMENTATION -  TEMPERATURE CONVERSIONS AND OUTPUT</a:t>
            </a:r>
          </a:p>
        </p:txBody>
      </p:sp>
      <p:sp>
        <p:nvSpPr>
          <p:cNvPr id="6" name="TextBox 5">
            <a:extLst>
              <a:ext uri="{FF2B5EF4-FFF2-40B4-BE49-F238E27FC236}">
                <a16:creationId xmlns:a16="http://schemas.microsoft.com/office/drawing/2014/main" id="{348111AB-5E0F-2C80-6436-9C6E574D9FF9}"/>
              </a:ext>
            </a:extLst>
          </p:cNvPr>
          <p:cNvSpPr txBox="1"/>
          <p:nvPr/>
        </p:nvSpPr>
        <p:spPr>
          <a:xfrm>
            <a:off x="740780" y="1701478"/>
            <a:ext cx="4236334" cy="4524315"/>
          </a:xfrm>
          <a:prstGeom prst="rect">
            <a:avLst/>
          </a:prstGeom>
          <a:noFill/>
          <a:ln w="19050">
            <a:solidFill>
              <a:schemeClr val="tx1"/>
            </a:solidFill>
          </a:ln>
        </p:spPr>
        <p:txBody>
          <a:bodyPr wrap="square" rtlCol="0">
            <a:spAutoFit/>
          </a:bodyPr>
          <a:lstStyle/>
          <a:p>
            <a:r>
              <a:rPr lang="en-IN" sz="1600" noProof="1">
                <a:latin typeface="+mj-lt"/>
              </a:rPr>
              <a:t>print("\nTemperature Conversion:")</a:t>
            </a:r>
          </a:p>
          <a:p>
            <a:r>
              <a:rPr lang="en-IN" sz="1600" noProof="1">
                <a:latin typeface="+mj-lt"/>
              </a:rPr>
              <a:t>print("1. Celsius to Fahrenheit")</a:t>
            </a:r>
          </a:p>
          <a:p>
            <a:r>
              <a:rPr lang="en-IN" sz="1600" noProof="1">
                <a:latin typeface="+mj-lt"/>
              </a:rPr>
              <a:t>print("2. Fahrenheit to Celsius")</a:t>
            </a:r>
          </a:p>
          <a:p>
            <a:endParaRPr lang="en-IN" sz="1600" noProof="1">
              <a:latin typeface="+mj-lt"/>
            </a:endParaRPr>
          </a:p>
          <a:p>
            <a:r>
              <a:rPr lang="en-IN" sz="1600" noProof="1">
                <a:latin typeface="+mj-lt"/>
              </a:rPr>
              <a:t>choice = input("Enter choice (1 or 2): ")</a:t>
            </a:r>
          </a:p>
          <a:p>
            <a:endParaRPr lang="en-IN" sz="1600" noProof="1">
              <a:latin typeface="+mj-lt"/>
            </a:endParaRPr>
          </a:p>
          <a:p>
            <a:r>
              <a:rPr lang="en-IN" sz="1600" noProof="1">
                <a:latin typeface="+mj-lt"/>
              </a:rPr>
              <a:t>if choice == "1":</a:t>
            </a:r>
          </a:p>
          <a:p>
            <a:r>
              <a:rPr lang="en-IN" sz="1600" noProof="1">
                <a:latin typeface="+mj-lt"/>
              </a:rPr>
              <a:t>    c = float(input("Enter temperature in Celsius: "))</a:t>
            </a:r>
          </a:p>
          <a:p>
            <a:r>
              <a:rPr lang="en-IN" sz="1600" noProof="1">
                <a:latin typeface="+mj-lt"/>
              </a:rPr>
              <a:t>    print(f"{c:.2f} °C = {c*9/5+32:.2f} °F")</a:t>
            </a:r>
          </a:p>
          <a:p>
            <a:endParaRPr lang="en-IN" sz="1600" noProof="1">
              <a:latin typeface="+mj-lt"/>
            </a:endParaRPr>
          </a:p>
          <a:p>
            <a:r>
              <a:rPr lang="en-IN" sz="1600" noProof="1">
                <a:latin typeface="+mj-lt"/>
              </a:rPr>
              <a:t>elif choice == "2":</a:t>
            </a:r>
          </a:p>
          <a:p>
            <a:r>
              <a:rPr lang="en-IN" sz="1600" noProof="1">
                <a:latin typeface="+mj-lt"/>
              </a:rPr>
              <a:t>    f = float(input("Enter temperature in Fahrenheit: "))</a:t>
            </a:r>
          </a:p>
          <a:p>
            <a:r>
              <a:rPr lang="en-IN" sz="1600" noProof="1">
                <a:latin typeface="+mj-lt"/>
              </a:rPr>
              <a:t>    print(f"{f:.2f} °F = {(f-32)*5/9:.2f} °C")</a:t>
            </a:r>
          </a:p>
          <a:p>
            <a:endParaRPr lang="en-IN" sz="1600" noProof="1">
              <a:latin typeface="+mj-lt"/>
            </a:endParaRPr>
          </a:p>
          <a:p>
            <a:r>
              <a:rPr lang="en-IN" sz="1600" noProof="1">
                <a:latin typeface="+mj-lt"/>
              </a:rPr>
              <a:t>else:</a:t>
            </a:r>
          </a:p>
          <a:p>
            <a:r>
              <a:rPr lang="en-IN" sz="1600" noProof="1">
                <a:latin typeface="+mj-lt"/>
              </a:rPr>
              <a:t>    print("Invalid choice!")</a:t>
            </a:r>
          </a:p>
        </p:txBody>
      </p:sp>
      <p:sp>
        <p:nvSpPr>
          <p:cNvPr id="7" name="Rectangle 6">
            <a:extLst>
              <a:ext uri="{FF2B5EF4-FFF2-40B4-BE49-F238E27FC236}">
                <a16:creationId xmlns:a16="http://schemas.microsoft.com/office/drawing/2014/main" id="{ECB8EC34-CC88-DA43-5CB3-522482C1944D}"/>
              </a:ext>
            </a:extLst>
          </p:cNvPr>
          <p:cNvSpPr/>
          <p:nvPr/>
        </p:nvSpPr>
        <p:spPr>
          <a:xfrm>
            <a:off x="6585995" y="2784214"/>
            <a:ext cx="4051139" cy="2141317"/>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IN"/>
          </a:p>
        </p:txBody>
      </p:sp>
      <p:pic>
        <p:nvPicPr>
          <p:cNvPr id="9" name="Picture 8">
            <a:extLst>
              <a:ext uri="{FF2B5EF4-FFF2-40B4-BE49-F238E27FC236}">
                <a16:creationId xmlns:a16="http://schemas.microsoft.com/office/drawing/2014/main" id="{BEC71E37-A8B5-D7BE-C59F-6410756FA9DC}"/>
              </a:ext>
            </a:extLst>
          </p:cNvPr>
          <p:cNvPicPr>
            <a:picLocks noChangeAspect="1"/>
          </p:cNvPicPr>
          <p:nvPr/>
        </p:nvPicPr>
        <p:blipFill>
          <a:blip r:embed="rId3"/>
          <a:stretch>
            <a:fillRect/>
          </a:stretch>
        </p:blipFill>
        <p:spPr>
          <a:xfrm>
            <a:off x="6585995" y="2784214"/>
            <a:ext cx="3946967" cy="2086255"/>
          </a:xfrm>
          <a:prstGeom prst="rect">
            <a:avLst/>
          </a:prstGeom>
          <a:ln>
            <a:noFill/>
          </a:ln>
          <a:effectLst>
            <a:softEdge rad="112500"/>
          </a:effectLst>
        </p:spPr>
      </p:pic>
      <p:sp>
        <p:nvSpPr>
          <p:cNvPr id="11" name="TextBox 10">
            <a:extLst>
              <a:ext uri="{FF2B5EF4-FFF2-40B4-BE49-F238E27FC236}">
                <a16:creationId xmlns:a16="http://schemas.microsoft.com/office/drawing/2014/main" id="{C1575C40-220E-491D-2217-3B0F95392F96}"/>
              </a:ext>
            </a:extLst>
          </p:cNvPr>
          <p:cNvSpPr txBox="1"/>
          <p:nvPr/>
        </p:nvSpPr>
        <p:spPr>
          <a:xfrm>
            <a:off x="6713316" y="1863865"/>
            <a:ext cx="3611302" cy="400110"/>
          </a:xfrm>
          <a:prstGeom prst="rect">
            <a:avLst/>
          </a:prstGeom>
          <a:noFill/>
        </p:spPr>
        <p:txBody>
          <a:bodyPr wrap="square" rtlCol="0">
            <a:spAutoFit/>
          </a:bodyPr>
          <a:lstStyle/>
          <a:p>
            <a:r>
              <a:rPr lang="en-IN" sz="2000" b="1" dirty="0"/>
              <a:t>Output:</a:t>
            </a:r>
          </a:p>
        </p:txBody>
      </p:sp>
    </p:spTree>
    <p:extLst>
      <p:ext uri="{BB962C8B-B14F-4D97-AF65-F5344CB8AC3E}">
        <p14:creationId xmlns:p14="http://schemas.microsoft.com/office/powerpoint/2010/main" val="9637128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703499"/>
            <a:ext cx="10972800" cy="594360"/>
          </a:xfrm>
          <a:prstGeom prst="rect">
            <a:avLst/>
          </a:prstGeom>
          <a:noFill/>
        </p:spPr>
        <p:txBody>
          <a:bodyPr wrap="none">
            <a:spAutoFit/>
          </a:bodyPr>
          <a:lstStyle/>
          <a:p>
            <a:pPr>
              <a:defRPr sz="2600" b="1">
                <a:solidFill>
                  <a:srgbClr val="1F3756"/>
                </a:solidFill>
              </a:defRPr>
            </a:pPr>
            <a:r>
              <a:t>DATA ANALYSIS — EXPLORATORY RESULTS</a:t>
            </a:r>
          </a:p>
        </p:txBody>
      </p:sp>
      <p:pic>
        <p:nvPicPr>
          <p:cNvPr id="11" name="object 3">
            <a:extLst>
              <a:ext uri="{FF2B5EF4-FFF2-40B4-BE49-F238E27FC236}">
                <a16:creationId xmlns:a16="http://schemas.microsoft.com/office/drawing/2014/main" id="{E4A859EE-741D-B4F6-E043-811D2DE69FF7}"/>
              </a:ext>
            </a:extLst>
          </p:cNvPr>
          <p:cNvPicPr/>
          <p:nvPr/>
        </p:nvPicPr>
        <p:blipFill>
          <a:blip r:embed="rId2" cstate="print"/>
          <a:stretch>
            <a:fillRect/>
          </a:stretch>
        </p:blipFill>
        <p:spPr>
          <a:xfrm>
            <a:off x="290750" y="204310"/>
            <a:ext cx="1361070" cy="499189"/>
          </a:xfrm>
          <a:prstGeom prst="rect">
            <a:avLst/>
          </a:prstGeom>
        </p:spPr>
      </p:pic>
      <p:pic>
        <p:nvPicPr>
          <p:cNvPr id="5" name="Picture 4" descr="A graph showing the temperature trend&#10;&#10;Description automatically generated">
            <a:extLst>
              <a:ext uri="{FF2B5EF4-FFF2-40B4-BE49-F238E27FC236}">
                <a16:creationId xmlns:a16="http://schemas.microsoft.com/office/drawing/2014/main" id="{001476FA-CB3E-6CCA-751C-1EF36CBD5512}"/>
              </a:ext>
            </a:extLst>
          </p:cNvPr>
          <p:cNvPicPr>
            <a:picLocks noChangeAspect="1"/>
          </p:cNvPicPr>
          <p:nvPr/>
        </p:nvPicPr>
        <p:blipFill>
          <a:blip r:embed="rId3"/>
          <a:stretch>
            <a:fillRect/>
          </a:stretch>
        </p:blipFill>
        <p:spPr>
          <a:xfrm>
            <a:off x="594360" y="1455420"/>
            <a:ext cx="5456903" cy="4955540"/>
          </a:xfrm>
          <a:prstGeom prst="rect">
            <a:avLst/>
          </a:prstGeom>
        </p:spPr>
      </p:pic>
      <p:pic>
        <p:nvPicPr>
          <p:cNvPr id="9" name="Picture 8" descr="A graph showing the temperature of a temperature&#10;&#10;Description automatically generated">
            <a:extLst>
              <a:ext uri="{FF2B5EF4-FFF2-40B4-BE49-F238E27FC236}">
                <a16:creationId xmlns:a16="http://schemas.microsoft.com/office/drawing/2014/main" id="{342495E4-4CE2-3855-121C-A0E17F40B0E1}"/>
              </a:ext>
            </a:extLst>
          </p:cNvPr>
          <p:cNvPicPr>
            <a:picLocks noChangeAspect="1"/>
          </p:cNvPicPr>
          <p:nvPr/>
        </p:nvPicPr>
        <p:blipFill>
          <a:blip r:embed="rId4"/>
          <a:stretch>
            <a:fillRect/>
          </a:stretch>
        </p:blipFill>
        <p:spPr>
          <a:xfrm>
            <a:off x="6095847" y="1440916"/>
            <a:ext cx="5560490" cy="461444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DFD5EA4C-C401-9F95-B402-63D9FC895786}"/>
              </a:ext>
            </a:extLst>
          </p:cNvPr>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object 3">
            <a:extLst>
              <a:ext uri="{FF2B5EF4-FFF2-40B4-BE49-F238E27FC236}">
                <a16:creationId xmlns:a16="http://schemas.microsoft.com/office/drawing/2014/main" id="{04FFE0E5-4AB0-BEA3-FDD2-4239E10DED06}"/>
              </a:ext>
            </a:extLst>
          </p:cNvPr>
          <p:cNvPicPr/>
          <p:nvPr/>
        </p:nvPicPr>
        <p:blipFill>
          <a:blip r:embed="rId2" cstate="print"/>
          <a:stretch>
            <a:fillRect/>
          </a:stretch>
        </p:blipFill>
        <p:spPr>
          <a:xfrm>
            <a:off x="290750" y="204310"/>
            <a:ext cx="1361070" cy="499189"/>
          </a:xfrm>
          <a:prstGeom prst="rect">
            <a:avLst/>
          </a:prstGeom>
        </p:spPr>
      </p:pic>
      <p:pic>
        <p:nvPicPr>
          <p:cNvPr id="6" name="Picture 5" descr="A graph showing the temperature of a person&#10;&#10;Description automatically generated with medium confidence">
            <a:extLst>
              <a:ext uri="{FF2B5EF4-FFF2-40B4-BE49-F238E27FC236}">
                <a16:creationId xmlns:a16="http://schemas.microsoft.com/office/drawing/2014/main" id="{62653EBB-D0E3-8BDC-B2B8-EFE2D589A2A5}"/>
              </a:ext>
            </a:extLst>
          </p:cNvPr>
          <p:cNvPicPr>
            <a:picLocks noChangeAspect="1"/>
          </p:cNvPicPr>
          <p:nvPr/>
        </p:nvPicPr>
        <p:blipFill>
          <a:blip r:embed="rId3"/>
          <a:stretch>
            <a:fillRect/>
          </a:stretch>
        </p:blipFill>
        <p:spPr>
          <a:xfrm>
            <a:off x="224128" y="1155713"/>
            <a:ext cx="5871719" cy="5153647"/>
          </a:xfrm>
          <a:prstGeom prst="rect">
            <a:avLst/>
          </a:prstGeom>
        </p:spPr>
      </p:pic>
      <p:pic>
        <p:nvPicPr>
          <p:cNvPr id="8" name="Picture 7" descr="A graph showing the temperature and humidity&#10;&#10;Description automatically generated">
            <a:extLst>
              <a:ext uri="{FF2B5EF4-FFF2-40B4-BE49-F238E27FC236}">
                <a16:creationId xmlns:a16="http://schemas.microsoft.com/office/drawing/2014/main" id="{89C3C2C0-D5D2-72AC-D93C-8CA7431F37D6}"/>
              </a:ext>
            </a:extLst>
          </p:cNvPr>
          <p:cNvPicPr>
            <a:picLocks noChangeAspect="1"/>
          </p:cNvPicPr>
          <p:nvPr/>
        </p:nvPicPr>
        <p:blipFill>
          <a:blip r:embed="rId4"/>
          <a:stretch>
            <a:fillRect/>
          </a:stretch>
        </p:blipFill>
        <p:spPr>
          <a:xfrm>
            <a:off x="6004559" y="1155712"/>
            <a:ext cx="5730241" cy="4930128"/>
          </a:xfrm>
          <a:prstGeom prst="rect">
            <a:avLst/>
          </a:prstGeom>
        </p:spPr>
      </p:pic>
    </p:spTree>
    <p:extLst>
      <p:ext uri="{BB962C8B-B14F-4D97-AF65-F5344CB8AC3E}">
        <p14:creationId xmlns:p14="http://schemas.microsoft.com/office/powerpoint/2010/main" val="122174248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9AAAAEC-F1F3-898D-B97A-A9B9D077447F}"/>
              </a:ext>
            </a:extLst>
          </p:cNvPr>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object 3">
            <a:extLst>
              <a:ext uri="{FF2B5EF4-FFF2-40B4-BE49-F238E27FC236}">
                <a16:creationId xmlns:a16="http://schemas.microsoft.com/office/drawing/2014/main" id="{B6AD471A-AAC1-258D-F592-DF917F42085A}"/>
              </a:ext>
            </a:extLst>
          </p:cNvPr>
          <p:cNvPicPr/>
          <p:nvPr/>
        </p:nvPicPr>
        <p:blipFill>
          <a:blip r:embed="rId2" cstate="print"/>
          <a:stretch>
            <a:fillRect/>
          </a:stretch>
        </p:blipFill>
        <p:spPr>
          <a:xfrm>
            <a:off x="290750" y="204310"/>
            <a:ext cx="1361070" cy="499189"/>
          </a:xfrm>
          <a:prstGeom prst="rect">
            <a:avLst/>
          </a:prstGeom>
        </p:spPr>
      </p:pic>
      <p:pic>
        <p:nvPicPr>
          <p:cNvPr id="5" name="Picture 4" descr="A graph of a weather condition&#10;&#10;Description automatically generated">
            <a:extLst>
              <a:ext uri="{FF2B5EF4-FFF2-40B4-BE49-F238E27FC236}">
                <a16:creationId xmlns:a16="http://schemas.microsoft.com/office/drawing/2014/main" id="{DF9C9EFC-F49A-9C92-3228-86CB6C914279}"/>
              </a:ext>
            </a:extLst>
          </p:cNvPr>
          <p:cNvPicPr>
            <a:picLocks noChangeAspect="1"/>
          </p:cNvPicPr>
          <p:nvPr/>
        </p:nvPicPr>
        <p:blipFill>
          <a:blip r:embed="rId3"/>
          <a:stretch>
            <a:fillRect/>
          </a:stretch>
        </p:blipFill>
        <p:spPr>
          <a:xfrm>
            <a:off x="0" y="703499"/>
            <a:ext cx="6228080" cy="3065861"/>
          </a:xfrm>
          <a:prstGeom prst="rect">
            <a:avLst/>
          </a:prstGeom>
        </p:spPr>
      </p:pic>
      <p:pic>
        <p:nvPicPr>
          <p:cNvPr id="7" name="Picture 6" descr="A graph of a graph showing the temperature of a person&#10;&#10;Description automatically generated with medium confidence">
            <a:extLst>
              <a:ext uri="{FF2B5EF4-FFF2-40B4-BE49-F238E27FC236}">
                <a16:creationId xmlns:a16="http://schemas.microsoft.com/office/drawing/2014/main" id="{E965FE54-F76C-1D8C-9B3E-F407714E8AEC}"/>
              </a:ext>
            </a:extLst>
          </p:cNvPr>
          <p:cNvPicPr>
            <a:picLocks noChangeAspect="1"/>
          </p:cNvPicPr>
          <p:nvPr/>
        </p:nvPicPr>
        <p:blipFill>
          <a:blip r:embed="rId4"/>
          <a:stretch>
            <a:fillRect/>
          </a:stretch>
        </p:blipFill>
        <p:spPr>
          <a:xfrm>
            <a:off x="6096000" y="677941"/>
            <a:ext cx="5805250" cy="3091419"/>
          </a:xfrm>
          <a:prstGeom prst="rect">
            <a:avLst/>
          </a:prstGeom>
        </p:spPr>
      </p:pic>
      <p:pic>
        <p:nvPicPr>
          <p:cNvPr id="9" name="Picture 8" descr="A graph with blue lines&#10;&#10;Description automatically generated">
            <a:extLst>
              <a:ext uri="{FF2B5EF4-FFF2-40B4-BE49-F238E27FC236}">
                <a16:creationId xmlns:a16="http://schemas.microsoft.com/office/drawing/2014/main" id="{BBCBF360-46D9-A6D7-C601-CA15C9C792E4}"/>
              </a:ext>
            </a:extLst>
          </p:cNvPr>
          <p:cNvPicPr>
            <a:picLocks noChangeAspect="1"/>
          </p:cNvPicPr>
          <p:nvPr/>
        </p:nvPicPr>
        <p:blipFill>
          <a:blip r:embed="rId5"/>
          <a:stretch>
            <a:fillRect/>
          </a:stretch>
        </p:blipFill>
        <p:spPr>
          <a:xfrm>
            <a:off x="2389730" y="3794918"/>
            <a:ext cx="7211470" cy="3065860"/>
          </a:xfrm>
          <a:prstGeom prst="rect">
            <a:avLst/>
          </a:prstGeom>
        </p:spPr>
      </p:pic>
    </p:spTree>
    <p:extLst>
      <p:ext uri="{BB962C8B-B14F-4D97-AF65-F5344CB8AC3E}">
        <p14:creationId xmlns:p14="http://schemas.microsoft.com/office/powerpoint/2010/main" val="1083974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801820"/>
            <a:ext cx="4078809" cy="492443"/>
          </a:xfrm>
          <a:prstGeom prst="rect">
            <a:avLst/>
          </a:prstGeom>
          <a:noFill/>
        </p:spPr>
        <p:txBody>
          <a:bodyPr wrap="none">
            <a:spAutoFit/>
          </a:bodyPr>
          <a:lstStyle/>
          <a:p>
            <a:pPr>
              <a:defRPr sz="2600" b="1">
                <a:solidFill>
                  <a:srgbClr val="1F3756"/>
                </a:solidFill>
              </a:defRPr>
            </a:pPr>
            <a:r>
              <a:rPr dirty="0"/>
              <a:t>PROJECT IMPLEMENTATION </a:t>
            </a:r>
          </a:p>
        </p:txBody>
      </p:sp>
      <p:sp>
        <p:nvSpPr>
          <p:cNvPr id="5" name="Rounded Rectangle 4"/>
          <p:cNvSpPr/>
          <p:nvPr/>
        </p:nvSpPr>
        <p:spPr>
          <a:xfrm>
            <a:off x="7406640" y="1729003"/>
            <a:ext cx="3977639"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7571231" y="1857018"/>
            <a:ext cx="3648456" cy="515526"/>
          </a:xfrm>
          <a:prstGeom prst="rect">
            <a:avLst/>
          </a:prstGeom>
          <a:noFill/>
        </p:spPr>
        <p:txBody>
          <a:bodyPr wrap="square">
            <a:spAutoFit/>
          </a:bodyPr>
          <a:lstStyle/>
          <a:p>
            <a:pPr>
              <a:defRPr sz="1500" b="1">
                <a:solidFill>
                  <a:srgbClr val="1F3756"/>
                </a:solidFill>
              </a:defRPr>
            </a:pPr>
            <a:r>
              <a:rPr dirty="0"/>
              <a:t>Model</a:t>
            </a:r>
          </a:p>
          <a:p>
            <a:pPr>
              <a:defRPr sz="1250">
                <a:solidFill>
                  <a:srgbClr val="2D2D2D"/>
                </a:solidFill>
              </a:defRPr>
            </a:pPr>
            <a:r>
              <a:rPr lang="en-IN" dirty="0"/>
              <a:t>Statistical Data Analysis Model </a:t>
            </a:r>
            <a:endParaRPr dirty="0"/>
          </a:p>
        </p:txBody>
      </p:sp>
      <p:sp>
        <p:nvSpPr>
          <p:cNvPr id="7" name="Rounded Rectangle 6"/>
          <p:cNvSpPr/>
          <p:nvPr/>
        </p:nvSpPr>
        <p:spPr>
          <a:xfrm>
            <a:off x="7406640" y="2872003"/>
            <a:ext cx="3977639"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7571231" y="2908179"/>
            <a:ext cx="3648456" cy="1061829"/>
          </a:xfrm>
          <a:prstGeom prst="rect">
            <a:avLst/>
          </a:prstGeom>
          <a:noFill/>
        </p:spPr>
        <p:txBody>
          <a:bodyPr wrap="square">
            <a:spAutoFit/>
          </a:bodyPr>
          <a:lstStyle/>
          <a:p>
            <a:pPr>
              <a:defRPr sz="1500" b="1">
                <a:solidFill>
                  <a:srgbClr val="1F3756"/>
                </a:solidFill>
              </a:defRPr>
            </a:pPr>
            <a:r>
              <a:rPr dirty="0"/>
              <a:t>Preprocessing Pipeline</a:t>
            </a:r>
            <a:endParaRPr lang="en-IN" dirty="0"/>
          </a:p>
          <a:p>
            <a:pPr>
              <a:defRPr sz="1500" b="1">
                <a:solidFill>
                  <a:srgbClr val="1F3756"/>
                </a:solidFill>
              </a:defRPr>
            </a:pPr>
            <a:r>
              <a:rPr lang="en-IN" sz="1200" dirty="0">
                <a:solidFill>
                  <a:schemeClr val="tx1">
                    <a:lumMod val="95000"/>
                    <a:lumOff val="5000"/>
                  </a:schemeClr>
                </a:solidFill>
              </a:rPr>
              <a:t>Load CSV -&gt; Remove duplicates-&gt; Handle missing values -&gt; Convert data -&gt; Sort data -&gt; Prepare cleaned dataset</a:t>
            </a:r>
          </a:p>
          <a:p>
            <a:pPr>
              <a:defRPr sz="1500" b="1">
                <a:solidFill>
                  <a:srgbClr val="1F3756"/>
                </a:solidFill>
              </a:defRPr>
            </a:pPr>
            <a:endParaRPr lang="en-IN" sz="1200" dirty="0"/>
          </a:p>
        </p:txBody>
      </p:sp>
      <p:sp>
        <p:nvSpPr>
          <p:cNvPr id="9" name="Rounded Rectangle 8"/>
          <p:cNvSpPr/>
          <p:nvPr/>
        </p:nvSpPr>
        <p:spPr>
          <a:xfrm>
            <a:off x="7406640" y="4060723"/>
            <a:ext cx="3977639" cy="96012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7571231" y="4188738"/>
            <a:ext cx="3648456" cy="515526"/>
          </a:xfrm>
          <a:prstGeom prst="rect">
            <a:avLst/>
          </a:prstGeom>
          <a:noFill/>
        </p:spPr>
        <p:txBody>
          <a:bodyPr wrap="square">
            <a:spAutoFit/>
          </a:bodyPr>
          <a:lstStyle/>
          <a:p>
            <a:pPr>
              <a:defRPr sz="1500" b="1">
                <a:solidFill>
                  <a:srgbClr val="1F3756"/>
                </a:solidFill>
              </a:defRPr>
            </a:pPr>
            <a:r>
              <a:rPr dirty="0"/>
              <a:t>Split</a:t>
            </a:r>
          </a:p>
          <a:p>
            <a:pPr>
              <a:defRPr sz="1250">
                <a:solidFill>
                  <a:srgbClr val="2D2D2D"/>
                </a:solidFill>
              </a:defRPr>
            </a:pPr>
            <a:r>
              <a:rPr lang="en-US" dirty="0"/>
              <a:t>Not Applicable (No ML Model) </a:t>
            </a:r>
            <a:endParaRPr dirty="0"/>
          </a:p>
        </p:txBody>
      </p:sp>
      <p:sp>
        <p:nvSpPr>
          <p:cNvPr id="11" name="Rounded Rectangle 10"/>
          <p:cNvSpPr/>
          <p:nvPr/>
        </p:nvSpPr>
        <p:spPr>
          <a:xfrm>
            <a:off x="7406640" y="5249443"/>
            <a:ext cx="3977639" cy="82296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7571231" y="5377459"/>
            <a:ext cx="3648456" cy="515526"/>
          </a:xfrm>
          <a:prstGeom prst="rect">
            <a:avLst/>
          </a:prstGeom>
          <a:noFill/>
        </p:spPr>
        <p:txBody>
          <a:bodyPr wrap="square">
            <a:spAutoFit/>
          </a:bodyPr>
          <a:lstStyle/>
          <a:p>
            <a:pPr>
              <a:defRPr sz="1500" b="1">
                <a:solidFill>
                  <a:srgbClr val="1F3756"/>
                </a:solidFill>
              </a:defRPr>
            </a:pPr>
            <a:r>
              <a:rPr dirty="0"/>
              <a:t>Execution</a:t>
            </a:r>
          </a:p>
          <a:p>
            <a:pPr>
              <a:defRPr sz="1250">
                <a:solidFill>
                  <a:srgbClr val="2D2D2D"/>
                </a:solidFill>
              </a:defRPr>
            </a:pPr>
            <a:r>
              <a:rPr lang="en-US" dirty="0"/>
              <a:t>Clean data → analyze → visualize results. </a:t>
            </a:r>
            <a:endParaRPr dirty="0"/>
          </a:p>
        </p:txBody>
      </p:sp>
      <p:pic>
        <p:nvPicPr>
          <p:cNvPr id="14" name="object 3">
            <a:extLst>
              <a:ext uri="{FF2B5EF4-FFF2-40B4-BE49-F238E27FC236}">
                <a16:creationId xmlns:a16="http://schemas.microsoft.com/office/drawing/2014/main" id="{7905F141-1165-1D8F-38D5-D3DA5A82C156}"/>
              </a:ext>
            </a:extLst>
          </p:cNvPr>
          <p:cNvPicPr/>
          <p:nvPr/>
        </p:nvPicPr>
        <p:blipFill>
          <a:blip r:embed="rId2" cstate="print"/>
          <a:stretch>
            <a:fillRect/>
          </a:stretch>
        </p:blipFill>
        <p:spPr>
          <a:xfrm>
            <a:off x="290750" y="204310"/>
            <a:ext cx="1361070" cy="499189"/>
          </a:xfrm>
          <a:prstGeom prst="rect">
            <a:avLst/>
          </a:prstGeom>
        </p:spPr>
      </p:pic>
      <p:sp>
        <p:nvSpPr>
          <p:cNvPr id="16" name="TextBox 15">
            <a:extLst>
              <a:ext uri="{FF2B5EF4-FFF2-40B4-BE49-F238E27FC236}">
                <a16:creationId xmlns:a16="http://schemas.microsoft.com/office/drawing/2014/main" id="{AA593398-DCFB-B55C-DDAF-DA2A4A66923D}"/>
              </a:ext>
            </a:extLst>
          </p:cNvPr>
          <p:cNvSpPr txBox="1"/>
          <p:nvPr/>
        </p:nvSpPr>
        <p:spPr>
          <a:xfrm>
            <a:off x="412671" y="1396180"/>
            <a:ext cx="5796105" cy="5170646"/>
          </a:xfrm>
          <a:prstGeom prst="rect">
            <a:avLst/>
          </a:prstGeom>
          <a:noFill/>
          <a:ln w="19050">
            <a:solidFill>
              <a:schemeClr val="tx1"/>
            </a:solidFill>
          </a:ln>
        </p:spPr>
        <p:txBody>
          <a:bodyPr wrap="square">
            <a:spAutoFit/>
          </a:bodyPr>
          <a:lstStyle/>
          <a:p>
            <a:r>
              <a:rPr lang="en-IN" sz="1100" noProof="1">
                <a:latin typeface="Consolas" panose="020B0609020204030204" pitchFamily="49" charset="0"/>
              </a:rPr>
              <a:t>print("Minimum Temperature:", round(df.Temperature.min(), 2), "°C")</a:t>
            </a:r>
          </a:p>
          <a:p>
            <a:r>
              <a:rPr lang="en-IN" sz="1100" noProof="1">
                <a:latin typeface="Consolas" panose="020B0609020204030204" pitchFamily="49" charset="0"/>
              </a:rPr>
              <a:t>print("Maximum Temperature:", round(df.Temperature.max(), 2), "°C")</a:t>
            </a:r>
          </a:p>
          <a:p>
            <a:r>
              <a:rPr lang="en-IN" sz="1100" noProof="1">
                <a:latin typeface="Consolas" panose="020B0609020204030204" pitchFamily="49" charset="0"/>
              </a:rPr>
              <a:t>print("Average Temperature:", round(df.Temperature.mean(), 2), "°C")</a:t>
            </a:r>
          </a:p>
          <a:p>
            <a:endParaRPr lang="en-IN" sz="1100" noProof="1">
              <a:latin typeface="Consolas" panose="020B0609020204030204" pitchFamily="49" charset="0"/>
            </a:endParaRPr>
          </a:p>
          <a:p>
            <a:r>
              <a:rPr lang="en-IN" sz="1100" noProof="1">
                <a:latin typeface="Consolas" panose="020B0609020204030204" pitchFamily="49" charset="0"/>
              </a:rPr>
              <a:t>print("Minimum Humidity:", round(df.Humidity.min(), 2), "%")</a:t>
            </a:r>
          </a:p>
          <a:p>
            <a:r>
              <a:rPr lang="en-IN" sz="1100" noProof="1">
                <a:latin typeface="Consolas" panose="020B0609020204030204" pitchFamily="49" charset="0"/>
              </a:rPr>
              <a:t>print("Maximum Humidity:", round(df.Humidity.max(), 2), "%")</a:t>
            </a:r>
          </a:p>
          <a:p>
            <a:r>
              <a:rPr lang="en-IN" sz="1100" noProof="1">
                <a:latin typeface="Consolas" panose="020B0609020204030204" pitchFamily="49" charset="0"/>
              </a:rPr>
              <a:t>print("Average Humidity:", round(df.Humidity.mean(), 2), "%")</a:t>
            </a:r>
          </a:p>
          <a:p>
            <a:r>
              <a:rPr lang="en-IN" sz="1100" noProof="1">
                <a:latin typeface="Consolas" panose="020B0609020204030204" pitchFamily="49" charset="0"/>
              </a:rPr>
              <a:t>weather = df.Weather.value_counts()</a:t>
            </a:r>
          </a:p>
          <a:p>
            <a:r>
              <a:rPr lang="en-IN" sz="1100" noProof="1">
                <a:latin typeface="Consolas" panose="020B0609020204030204" pitchFamily="49" charset="0"/>
              </a:rPr>
              <a:t>print("Most Common Weather:", weather.idxmax())</a:t>
            </a:r>
          </a:p>
          <a:p>
            <a:endParaRPr lang="en-IN" sz="1100" noProof="1">
              <a:latin typeface="Consolas" panose="020B0609020204030204" pitchFamily="49" charset="0"/>
            </a:endParaRPr>
          </a:p>
          <a:p>
            <a:r>
              <a:rPr lang="en-IN" sz="1100" noProof="1">
                <a:latin typeface="Consolas" panose="020B0609020204030204" pitchFamily="49" charset="0"/>
              </a:rPr>
              <a:t># Line graph</a:t>
            </a:r>
          </a:p>
          <a:p>
            <a:r>
              <a:rPr lang="en-IN" sz="1100" noProof="1">
                <a:latin typeface="Consolas" panose="020B0609020204030204" pitchFamily="49" charset="0"/>
              </a:rPr>
              <a:t>plt.figure(figsize=(10,5))</a:t>
            </a:r>
          </a:p>
          <a:p>
            <a:r>
              <a:rPr lang="en-IN" sz="1100" noProof="1">
                <a:latin typeface="Consolas" panose="020B0609020204030204" pitchFamily="49" charset="0"/>
              </a:rPr>
              <a:t>plt.plot(df.Date, df.Temperature, marker="o")</a:t>
            </a:r>
          </a:p>
          <a:p>
            <a:r>
              <a:rPr lang="en-IN" sz="1100" noProof="1">
                <a:latin typeface="Consolas" panose="020B0609020204030204" pitchFamily="49" charset="0"/>
              </a:rPr>
              <a:t>plt.title("Temperature Trend Over Time")</a:t>
            </a:r>
          </a:p>
          <a:p>
            <a:r>
              <a:rPr lang="en-IN" sz="1100" noProof="1">
                <a:latin typeface="Consolas" panose="020B0609020204030204" pitchFamily="49" charset="0"/>
              </a:rPr>
              <a:t>plt.xlabel("Date")</a:t>
            </a:r>
          </a:p>
          <a:p>
            <a:r>
              <a:rPr lang="en-IN" sz="1100" noProof="1">
                <a:latin typeface="Consolas" panose="020B0609020204030204" pitchFamily="49" charset="0"/>
              </a:rPr>
              <a:t>plt.ylabel("Temperature (°C)")</a:t>
            </a:r>
          </a:p>
          <a:p>
            <a:r>
              <a:rPr lang="en-IN" sz="1100" noProof="1">
                <a:latin typeface="Consolas" panose="020B0609020204030204" pitchFamily="49" charset="0"/>
              </a:rPr>
              <a:t>plt.xticks(rotation=45)</a:t>
            </a:r>
          </a:p>
          <a:p>
            <a:r>
              <a:rPr lang="en-IN" sz="1100" noProof="1">
                <a:latin typeface="Consolas" panose="020B0609020204030204" pitchFamily="49" charset="0"/>
              </a:rPr>
              <a:t>plt.grid(True)</a:t>
            </a:r>
          </a:p>
          <a:p>
            <a:r>
              <a:rPr lang="en-IN" sz="1100" noProof="1">
                <a:latin typeface="Consolas" panose="020B0609020204030204" pitchFamily="49" charset="0"/>
              </a:rPr>
              <a:t>plt.tight_layout()</a:t>
            </a:r>
          </a:p>
          <a:p>
            <a:r>
              <a:rPr lang="en-IN" sz="1100" noProof="1">
                <a:latin typeface="Consolas" panose="020B0609020204030204" pitchFamily="49" charset="0"/>
              </a:rPr>
              <a:t>plt.show()</a:t>
            </a:r>
          </a:p>
          <a:p>
            <a:endParaRPr lang="en-IN" sz="1100" noProof="1">
              <a:latin typeface="Consolas" panose="020B0609020204030204" pitchFamily="49" charset="0"/>
            </a:endParaRPr>
          </a:p>
          <a:p>
            <a:r>
              <a:rPr lang="en-IN" sz="1100" noProof="1">
                <a:latin typeface="Consolas" panose="020B0609020204030204" pitchFamily="49" charset="0"/>
              </a:rPr>
              <a:t># Histogram</a:t>
            </a:r>
          </a:p>
          <a:p>
            <a:r>
              <a:rPr lang="en-IN" sz="1100" noProof="1">
                <a:latin typeface="Consolas" panose="020B0609020204030204" pitchFamily="49" charset="0"/>
              </a:rPr>
              <a:t>plt.figure(figsize=(8,5))</a:t>
            </a:r>
          </a:p>
          <a:p>
            <a:r>
              <a:rPr lang="en-IN" sz="1100" noProof="1">
                <a:latin typeface="Consolas" panose="020B0609020204030204" pitchFamily="49" charset="0"/>
              </a:rPr>
              <a:t>plt.hist(df.Temperature, bins=10, edgecolor="black")</a:t>
            </a:r>
          </a:p>
          <a:p>
            <a:r>
              <a:rPr lang="en-IN" sz="1100" noProof="1">
                <a:latin typeface="Consolas" panose="020B0609020204030204" pitchFamily="49" charset="0"/>
              </a:rPr>
              <a:t>plt.title("Temperature Distribution")</a:t>
            </a:r>
          </a:p>
          <a:p>
            <a:r>
              <a:rPr lang="en-IN" sz="1100" noProof="1">
                <a:latin typeface="Consolas" panose="020B0609020204030204" pitchFamily="49" charset="0"/>
              </a:rPr>
              <a:t>plt.xlabel("Temperature (°C)")</a:t>
            </a:r>
          </a:p>
          <a:p>
            <a:r>
              <a:rPr lang="en-IN" sz="1100" noProof="1">
                <a:latin typeface="Consolas" panose="020B0609020204030204" pitchFamily="49" charset="0"/>
              </a:rPr>
              <a:t>plt.ylabel("Frequency")</a:t>
            </a:r>
          </a:p>
          <a:p>
            <a:r>
              <a:rPr lang="en-IN" sz="1100" noProof="1">
                <a:latin typeface="Consolas" panose="020B0609020204030204" pitchFamily="49" charset="0"/>
              </a:rPr>
              <a:t>plt.grid(True)</a:t>
            </a:r>
          </a:p>
          <a:p>
            <a:r>
              <a:rPr lang="en-IN" sz="1100" noProof="1">
                <a:latin typeface="Consolas" panose="020B0609020204030204" pitchFamily="49" charset="0"/>
              </a:rPr>
              <a:t>plt.show()</a:t>
            </a:r>
            <a:endParaRPr lang="en-IN" sz="1600" dirty="0">
              <a:latin typeface="Consolas" panose="020B0609020204030204" pitchFamily="49"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1096791"/>
            <a:ext cx="10972800" cy="594360"/>
          </a:xfrm>
          <a:prstGeom prst="rect">
            <a:avLst/>
          </a:prstGeom>
          <a:noFill/>
        </p:spPr>
        <p:txBody>
          <a:bodyPr wrap="none">
            <a:spAutoFit/>
          </a:bodyPr>
          <a:lstStyle/>
          <a:p>
            <a:pPr>
              <a:defRPr sz="2600" b="1">
                <a:solidFill>
                  <a:srgbClr val="1F3756"/>
                </a:solidFill>
              </a:defRPr>
            </a:pPr>
            <a:r>
              <a:rPr dirty="0"/>
              <a:t>VISUALIZATION &amp; INTERPRETATION</a:t>
            </a:r>
          </a:p>
        </p:txBody>
      </p:sp>
      <p:sp>
        <p:nvSpPr>
          <p:cNvPr id="4" name="Rounded Rectangle 3"/>
          <p:cNvSpPr/>
          <p:nvPr/>
        </p:nvSpPr>
        <p:spPr>
          <a:xfrm>
            <a:off x="640080" y="1856822"/>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04671" y="1984837"/>
            <a:ext cx="3145536" cy="1092607"/>
          </a:xfrm>
          <a:prstGeom prst="rect">
            <a:avLst/>
          </a:prstGeom>
          <a:noFill/>
        </p:spPr>
        <p:txBody>
          <a:bodyPr wrap="square">
            <a:spAutoFit/>
          </a:bodyPr>
          <a:lstStyle/>
          <a:p>
            <a:pPr>
              <a:defRPr sz="1500" b="1">
                <a:solidFill>
                  <a:srgbClr val="1F3756"/>
                </a:solidFill>
              </a:defRPr>
            </a:pPr>
            <a:r>
              <a:rPr lang="en-IN" dirty="0"/>
              <a:t>Weather Condition Distribution</a:t>
            </a:r>
            <a:endParaRPr dirty="0"/>
          </a:p>
          <a:p>
            <a:pPr>
              <a:defRPr sz="1250">
                <a:solidFill>
                  <a:srgbClr val="2D2D2D"/>
                </a:solidFill>
              </a:defRPr>
            </a:pPr>
            <a:r>
              <a:rPr lang="en-US" dirty="0"/>
              <a:t>Shows the frequency of different weather conditions such as sunny, rainy, cloudy, or foggy days. This helps identify the most common weather patterns in the dataset.</a:t>
            </a:r>
            <a:endParaRPr dirty="0"/>
          </a:p>
        </p:txBody>
      </p:sp>
      <p:sp>
        <p:nvSpPr>
          <p:cNvPr id="6" name="Rounded Rectangle 5"/>
          <p:cNvSpPr/>
          <p:nvPr/>
        </p:nvSpPr>
        <p:spPr>
          <a:xfrm>
            <a:off x="4343400" y="1856822"/>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07992" y="1984837"/>
            <a:ext cx="3145536" cy="1092607"/>
          </a:xfrm>
          <a:prstGeom prst="rect">
            <a:avLst/>
          </a:prstGeom>
          <a:noFill/>
        </p:spPr>
        <p:txBody>
          <a:bodyPr wrap="square">
            <a:spAutoFit/>
          </a:bodyPr>
          <a:lstStyle/>
          <a:p>
            <a:pPr>
              <a:defRPr sz="1500" b="1">
                <a:solidFill>
                  <a:srgbClr val="1F3756"/>
                </a:solidFill>
              </a:defRPr>
            </a:pPr>
            <a:r>
              <a:rPr lang="en-IN" dirty="0"/>
              <a:t>Seasonal Analysis</a:t>
            </a:r>
          </a:p>
          <a:p>
            <a:pPr>
              <a:defRPr sz="1250">
                <a:solidFill>
                  <a:srgbClr val="2D2D2D"/>
                </a:solidFill>
              </a:defRPr>
            </a:pPr>
            <a:r>
              <a:rPr lang="en-US" noProof="1"/>
              <a:t>Compares weather and temperature patterns across different seasons. This helps identify seasonal variations and changes in climate  behaviour.</a:t>
            </a:r>
          </a:p>
        </p:txBody>
      </p:sp>
      <p:sp>
        <p:nvSpPr>
          <p:cNvPr id="8" name="Rounded Rectangle 7"/>
          <p:cNvSpPr/>
          <p:nvPr/>
        </p:nvSpPr>
        <p:spPr>
          <a:xfrm>
            <a:off x="8046720" y="1856822"/>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11312" y="1984837"/>
            <a:ext cx="3145536" cy="1092607"/>
          </a:xfrm>
          <a:prstGeom prst="rect">
            <a:avLst/>
          </a:prstGeom>
          <a:noFill/>
        </p:spPr>
        <p:txBody>
          <a:bodyPr wrap="square">
            <a:spAutoFit/>
          </a:bodyPr>
          <a:lstStyle/>
          <a:p>
            <a:pPr>
              <a:defRPr sz="1500" b="1">
                <a:solidFill>
                  <a:srgbClr val="1F3756"/>
                </a:solidFill>
              </a:defRPr>
            </a:pPr>
            <a:r>
              <a:rPr lang="en-IN" dirty="0"/>
              <a:t>Temperature Distribution </a:t>
            </a:r>
            <a:endParaRPr lang="en-US" dirty="0"/>
          </a:p>
          <a:p>
            <a:pPr>
              <a:defRPr sz="1250">
                <a:solidFill>
                  <a:srgbClr val="2D2D2D"/>
                </a:solidFill>
              </a:defRPr>
            </a:pPr>
            <a:r>
              <a:rPr lang="en-US" dirty="0"/>
              <a:t>Shows the distribution and spread of temperature values using a histogram. It helps identify common temperature ranges and unusual values. </a:t>
            </a:r>
          </a:p>
        </p:txBody>
      </p:sp>
      <p:sp>
        <p:nvSpPr>
          <p:cNvPr id="10" name="Rounded Rectangle 9"/>
          <p:cNvSpPr/>
          <p:nvPr/>
        </p:nvSpPr>
        <p:spPr>
          <a:xfrm>
            <a:off x="640080" y="3457022"/>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04671" y="3585038"/>
            <a:ext cx="3145536" cy="1092607"/>
          </a:xfrm>
          <a:prstGeom prst="rect">
            <a:avLst/>
          </a:prstGeom>
          <a:noFill/>
        </p:spPr>
        <p:txBody>
          <a:bodyPr wrap="square">
            <a:spAutoFit/>
          </a:bodyPr>
          <a:lstStyle/>
          <a:p>
            <a:pPr>
              <a:defRPr sz="1500" b="1">
                <a:solidFill>
                  <a:srgbClr val="1F3756"/>
                </a:solidFill>
              </a:defRPr>
            </a:pPr>
            <a:r>
              <a:rPr lang="en-IN" dirty="0"/>
              <a:t>Temperature Trends</a:t>
            </a:r>
            <a:endParaRPr lang="en-US" dirty="0"/>
          </a:p>
          <a:p>
            <a:pPr>
              <a:defRPr sz="1250">
                <a:solidFill>
                  <a:srgbClr val="2D2D2D"/>
                </a:solidFill>
              </a:defRPr>
            </a:pPr>
            <a:r>
              <a:rPr lang="en-US" dirty="0"/>
              <a:t>Displays how temperature changes over time using historical weather data. It helps identify increasing, decreasing, and unusual temperature patterns. </a:t>
            </a:r>
          </a:p>
        </p:txBody>
      </p:sp>
      <p:sp>
        <p:nvSpPr>
          <p:cNvPr id="14" name="Rounded Rectangle 13"/>
          <p:cNvSpPr/>
          <p:nvPr/>
        </p:nvSpPr>
        <p:spPr>
          <a:xfrm>
            <a:off x="8046720" y="3457022"/>
            <a:ext cx="3474720" cy="123444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11312" y="3585038"/>
            <a:ext cx="3145536" cy="1092607"/>
          </a:xfrm>
          <a:prstGeom prst="rect">
            <a:avLst/>
          </a:prstGeom>
          <a:noFill/>
        </p:spPr>
        <p:txBody>
          <a:bodyPr wrap="square">
            <a:spAutoFit/>
          </a:bodyPr>
          <a:lstStyle/>
          <a:p>
            <a:pPr>
              <a:defRPr sz="1500" b="1">
                <a:solidFill>
                  <a:srgbClr val="1F3756"/>
                </a:solidFill>
              </a:defRPr>
            </a:pPr>
            <a:r>
              <a:rPr dirty="0"/>
              <a:t>Why this matters</a:t>
            </a:r>
          </a:p>
          <a:p>
            <a:pPr>
              <a:defRPr sz="1250">
                <a:solidFill>
                  <a:srgbClr val="2D2D2D"/>
                </a:solidFill>
              </a:defRPr>
            </a:pPr>
            <a:r>
              <a:rPr lang="en-IN" noProof="1"/>
              <a:t>A Graphs alone are not enough. The results must be interpreted to understand weather patterns, seasonal changes, and meaningful insights from the data.</a:t>
            </a:r>
          </a:p>
        </p:txBody>
      </p:sp>
      <p:sp>
        <p:nvSpPr>
          <p:cNvPr id="16" name="TextBox 15"/>
          <p:cNvSpPr txBox="1"/>
          <p:nvPr/>
        </p:nvSpPr>
        <p:spPr>
          <a:xfrm>
            <a:off x="868680" y="5148662"/>
            <a:ext cx="10424160" cy="705258"/>
          </a:xfrm>
          <a:prstGeom prst="rect">
            <a:avLst/>
          </a:prstGeom>
          <a:noFill/>
        </p:spPr>
        <p:txBody>
          <a:bodyPr wrap="square">
            <a:spAutoFit/>
          </a:bodyPr>
          <a:lstStyle/>
          <a:p>
            <a:pPr>
              <a:lnSpc>
                <a:spcPct val="150000"/>
              </a:lnSpc>
              <a:spcAft>
                <a:spcPts val="1000"/>
              </a:spcAft>
              <a:defRPr sz="1300">
                <a:solidFill>
                  <a:srgbClr val="2D2D2D"/>
                </a:solidFill>
              </a:defRPr>
            </a:pPr>
            <a:r>
              <a:rPr dirty="0"/>
              <a:t>Example interpretation: </a:t>
            </a:r>
            <a:r>
              <a:rPr lang="en-US" sz="1400" dirty="0"/>
              <a:t>These visualizations help identify temperature trends, seasonal variations, and unusual weather changes. The insights support better understanding of weather patterns and can be useful in agriculture, transportation, tourism, and disaster management. </a:t>
            </a:r>
            <a:endParaRPr dirty="0"/>
          </a:p>
        </p:txBody>
      </p:sp>
      <p:pic>
        <p:nvPicPr>
          <p:cNvPr id="18" name="object 3">
            <a:extLst>
              <a:ext uri="{FF2B5EF4-FFF2-40B4-BE49-F238E27FC236}">
                <a16:creationId xmlns:a16="http://schemas.microsoft.com/office/drawing/2014/main" id="{C48719DD-6D55-7C7B-C2F4-92C890A84FB2}"/>
              </a:ext>
            </a:extLst>
          </p:cNvPr>
          <p:cNvPicPr/>
          <p:nvPr/>
        </p:nvPicPr>
        <p:blipFill>
          <a:blip r:embed="rId2" cstate="print"/>
          <a:stretch>
            <a:fillRect/>
          </a:stretch>
        </p:blipFill>
        <p:spPr>
          <a:xfrm>
            <a:off x="290750" y="204310"/>
            <a:ext cx="1361070" cy="49918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929641"/>
            <a:ext cx="10972800" cy="594360"/>
          </a:xfrm>
          <a:prstGeom prst="rect">
            <a:avLst/>
          </a:prstGeom>
          <a:noFill/>
        </p:spPr>
        <p:txBody>
          <a:bodyPr wrap="none">
            <a:spAutoFit/>
          </a:bodyPr>
          <a:lstStyle/>
          <a:p>
            <a:pPr>
              <a:defRPr sz="2600" b="1">
                <a:solidFill>
                  <a:srgbClr val="1F3756"/>
                </a:solidFill>
              </a:defRPr>
            </a:pPr>
            <a:r>
              <a:rPr dirty="0"/>
              <a:t>RESULTS &amp; KEY INSIGHTS</a:t>
            </a:r>
          </a:p>
        </p:txBody>
      </p:sp>
      <p:sp>
        <p:nvSpPr>
          <p:cNvPr id="4" name="Rounded Rectangle 3"/>
          <p:cNvSpPr/>
          <p:nvPr/>
        </p:nvSpPr>
        <p:spPr>
          <a:xfrm>
            <a:off x="640080" y="1978252"/>
            <a:ext cx="347472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04671" y="2106268"/>
            <a:ext cx="3145536" cy="900246"/>
          </a:xfrm>
          <a:prstGeom prst="rect">
            <a:avLst/>
          </a:prstGeom>
          <a:noFill/>
        </p:spPr>
        <p:txBody>
          <a:bodyPr wrap="square">
            <a:spAutoFit/>
          </a:bodyPr>
          <a:lstStyle/>
          <a:p>
            <a:pPr>
              <a:defRPr sz="1500" b="1">
                <a:solidFill>
                  <a:srgbClr val="1F3756"/>
                </a:solidFill>
              </a:defRPr>
            </a:pPr>
            <a:r>
              <a:rPr dirty="0"/>
              <a:t>Finding 1</a:t>
            </a:r>
            <a:endParaRPr lang="en-US" dirty="0"/>
          </a:p>
          <a:p>
            <a:pPr>
              <a:defRPr sz="1250">
                <a:solidFill>
                  <a:srgbClr val="2D2D2D"/>
                </a:solidFill>
              </a:defRPr>
            </a:pPr>
            <a:r>
              <a:rPr lang="en-US" dirty="0"/>
              <a:t>The system calculates the minimum, maximum, and average temperature values from the weather dataset.</a:t>
            </a:r>
          </a:p>
        </p:txBody>
      </p:sp>
      <p:sp>
        <p:nvSpPr>
          <p:cNvPr id="6" name="Rounded Rectangle 5"/>
          <p:cNvSpPr/>
          <p:nvPr/>
        </p:nvSpPr>
        <p:spPr>
          <a:xfrm>
            <a:off x="4343400" y="1978252"/>
            <a:ext cx="347472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07992" y="2106268"/>
            <a:ext cx="3145536" cy="900246"/>
          </a:xfrm>
          <a:prstGeom prst="rect">
            <a:avLst/>
          </a:prstGeom>
          <a:noFill/>
        </p:spPr>
        <p:txBody>
          <a:bodyPr wrap="square">
            <a:spAutoFit/>
          </a:bodyPr>
          <a:lstStyle/>
          <a:p>
            <a:pPr>
              <a:defRPr sz="1500" b="1">
                <a:solidFill>
                  <a:srgbClr val="1F3756"/>
                </a:solidFill>
              </a:defRPr>
            </a:pPr>
            <a:r>
              <a:rPr dirty="0"/>
              <a:t>Finding 2</a:t>
            </a:r>
          </a:p>
          <a:p>
            <a:pPr>
              <a:defRPr sz="1250">
                <a:solidFill>
                  <a:srgbClr val="2D2D2D"/>
                </a:solidFill>
              </a:defRPr>
            </a:pPr>
            <a:r>
              <a:rPr lang="en-US" dirty="0"/>
              <a:t>The graphs helps identify temperature changes over time and observe long-term weather trends</a:t>
            </a:r>
            <a:endParaRPr dirty="0"/>
          </a:p>
        </p:txBody>
      </p:sp>
      <p:sp>
        <p:nvSpPr>
          <p:cNvPr id="8" name="Rounded Rectangle 7"/>
          <p:cNvSpPr/>
          <p:nvPr/>
        </p:nvSpPr>
        <p:spPr>
          <a:xfrm>
            <a:off x="8046720" y="1978252"/>
            <a:ext cx="347472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211312" y="2106268"/>
            <a:ext cx="3145536" cy="900246"/>
          </a:xfrm>
          <a:prstGeom prst="rect">
            <a:avLst/>
          </a:prstGeom>
          <a:noFill/>
        </p:spPr>
        <p:txBody>
          <a:bodyPr wrap="square">
            <a:spAutoFit/>
          </a:bodyPr>
          <a:lstStyle/>
          <a:p>
            <a:pPr>
              <a:defRPr sz="1500" b="1">
                <a:solidFill>
                  <a:srgbClr val="1F3756"/>
                </a:solidFill>
              </a:defRPr>
            </a:pPr>
            <a:r>
              <a:rPr dirty="0"/>
              <a:t>Finding 3</a:t>
            </a:r>
          </a:p>
          <a:p>
            <a:pPr>
              <a:defRPr sz="1250">
                <a:solidFill>
                  <a:srgbClr val="2D2D2D"/>
                </a:solidFill>
              </a:defRPr>
            </a:pPr>
            <a:r>
              <a:rPr lang="en-US" dirty="0"/>
              <a:t>The analysis helps identify seasonal variations, weather patterns, and unusual temperature changes. </a:t>
            </a:r>
            <a:endParaRPr dirty="0"/>
          </a:p>
        </p:txBody>
      </p:sp>
      <p:sp>
        <p:nvSpPr>
          <p:cNvPr id="10" name="Rounded Rectangle 9"/>
          <p:cNvSpPr/>
          <p:nvPr/>
        </p:nvSpPr>
        <p:spPr>
          <a:xfrm>
            <a:off x="640080" y="3441292"/>
            <a:ext cx="347472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670560" y="3578452"/>
            <a:ext cx="3145536" cy="746358"/>
          </a:xfrm>
          <a:prstGeom prst="rect">
            <a:avLst/>
          </a:prstGeom>
          <a:noFill/>
        </p:spPr>
        <p:txBody>
          <a:bodyPr wrap="square">
            <a:spAutoFit/>
          </a:bodyPr>
          <a:lstStyle/>
          <a:p>
            <a:pPr>
              <a:defRPr sz="1500" b="1">
                <a:solidFill>
                  <a:srgbClr val="1F3756"/>
                </a:solidFill>
              </a:defRPr>
            </a:pPr>
            <a:r>
              <a:rPr lang="en-IN" dirty="0"/>
              <a:t>Statistical Data Analysis</a:t>
            </a:r>
          </a:p>
          <a:p>
            <a:pPr>
              <a:defRPr sz="1500" b="1">
                <a:solidFill>
                  <a:srgbClr val="1F3756"/>
                </a:solidFill>
              </a:defRPr>
            </a:pPr>
            <a:endParaRPr lang="en-IN" dirty="0"/>
          </a:p>
          <a:p>
            <a:pPr>
              <a:defRPr sz="1250">
                <a:solidFill>
                  <a:srgbClr val="2D2D2D"/>
                </a:solidFill>
              </a:defRPr>
            </a:pPr>
            <a:r>
              <a:rPr lang="en-IN" dirty="0"/>
              <a:t>89%</a:t>
            </a:r>
          </a:p>
        </p:txBody>
      </p:sp>
      <p:sp>
        <p:nvSpPr>
          <p:cNvPr id="12" name="Rounded Rectangle 11"/>
          <p:cNvSpPr/>
          <p:nvPr/>
        </p:nvSpPr>
        <p:spPr>
          <a:xfrm>
            <a:off x="4343400" y="3441292"/>
            <a:ext cx="347472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4507992" y="3569308"/>
            <a:ext cx="3145536" cy="746358"/>
          </a:xfrm>
          <a:prstGeom prst="rect">
            <a:avLst/>
          </a:prstGeom>
          <a:noFill/>
        </p:spPr>
        <p:txBody>
          <a:bodyPr wrap="square">
            <a:spAutoFit/>
          </a:bodyPr>
          <a:lstStyle/>
          <a:p>
            <a:pPr>
              <a:defRPr sz="1500" b="1">
                <a:solidFill>
                  <a:srgbClr val="1F3756"/>
                </a:solidFill>
              </a:defRPr>
            </a:pPr>
            <a:r>
              <a:rPr lang="en-IN" dirty="0"/>
              <a:t>Data Processing Accuracy</a:t>
            </a:r>
          </a:p>
          <a:p>
            <a:pPr>
              <a:defRPr sz="1500" b="1">
                <a:solidFill>
                  <a:srgbClr val="1F3756"/>
                </a:solidFill>
              </a:defRPr>
            </a:pPr>
            <a:endParaRPr dirty="0"/>
          </a:p>
          <a:p>
            <a:pPr>
              <a:defRPr sz="1250">
                <a:solidFill>
                  <a:srgbClr val="2D2D2D"/>
                </a:solidFill>
              </a:defRPr>
            </a:pPr>
            <a:r>
              <a:rPr lang="en-IN" dirty="0"/>
              <a:t>93%</a:t>
            </a:r>
            <a:endParaRPr dirty="0"/>
          </a:p>
        </p:txBody>
      </p:sp>
      <p:sp>
        <p:nvSpPr>
          <p:cNvPr id="14" name="Rounded Rectangle 13"/>
          <p:cNvSpPr/>
          <p:nvPr/>
        </p:nvSpPr>
        <p:spPr>
          <a:xfrm>
            <a:off x="8046720" y="3441292"/>
            <a:ext cx="347472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211312" y="3569308"/>
            <a:ext cx="3145536" cy="746358"/>
          </a:xfrm>
          <a:prstGeom prst="rect">
            <a:avLst/>
          </a:prstGeom>
          <a:noFill/>
        </p:spPr>
        <p:txBody>
          <a:bodyPr wrap="square">
            <a:spAutoFit/>
          </a:bodyPr>
          <a:lstStyle/>
          <a:p>
            <a:pPr>
              <a:defRPr sz="1500" b="1">
                <a:solidFill>
                  <a:srgbClr val="1F3756"/>
                </a:solidFill>
              </a:defRPr>
            </a:pPr>
            <a:r>
              <a:rPr lang="en-IN" dirty="0"/>
              <a:t>Visualization Success</a:t>
            </a:r>
          </a:p>
          <a:p>
            <a:pPr>
              <a:defRPr sz="1500" b="1">
                <a:solidFill>
                  <a:srgbClr val="1F3756"/>
                </a:solidFill>
              </a:defRPr>
            </a:pPr>
            <a:endParaRPr dirty="0"/>
          </a:p>
          <a:p>
            <a:pPr>
              <a:defRPr sz="1250">
                <a:solidFill>
                  <a:srgbClr val="2D2D2D"/>
                </a:solidFill>
              </a:defRPr>
            </a:pPr>
            <a:r>
              <a:rPr lang="en-IN" dirty="0"/>
              <a:t>97%</a:t>
            </a:r>
            <a:endParaRPr dirty="0"/>
          </a:p>
        </p:txBody>
      </p:sp>
      <p:sp>
        <p:nvSpPr>
          <p:cNvPr id="16" name="TextBox 15"/>
          <p:cNvSpPr txBox="1"/>
          <p:nvPr/>
        </p:nvSpPr>
        <p:spPr>
          <a:xfrm>
            <a:off x="822960" y="5041492"/>
            <a:ext cx="10515600" cy="1156663"/>
          </a:xfrm>
          <a:prstGeom prst="rect">
            <a:avLst/>
          </a:prstGeom>
          <a:noFill/>
        </p:spPr>
        <p:txBody>
          <a:bodyPr wrap="square">
            <a:spAutoFit/>
          </a:bodyPr>
          <a:lstStyle/>
          <a:p>
            <a:pPr>
              <a:lnSpc>
                <a:spcPct val="150000"/>
              </a:lnSpc>
              <a:spcAft>
                <a:spcPts val="1000"/>
              </a:spcAft>
              <a:defRPr sz="1400">
                <a:solidFill>
                  <a:srgbClr val="2D2D2D"/>
                </a:solidFill>
              </a:defRPr>
            </a:pPr>
            <a:r>
              <a:rPr lang="en-US" dirty="0"/>
              <a:t>The Weather Data Analysis System successfully transforms raw weather data into meaningful insights through data cleaning, preprocessing, statistical analysis, and visualization. </a:t>
            </a:r>
          </a:p>
          <a:p>
            <a:pPr>
              <a:lnSpc>
                <a:spcPct val="150000"/>
              </a:lnSpc>
              <a:spcAft>
                <a:spcPts val="1000"/>
              </a:spcAft>
              <a:defRPr sz="1400">
                <a:solidFill>
                  <a:srgbClr val="2D2D2D"/>
                </a:solidFill>
              </a:defRPr>
            </a:pPr>
            <a:r>
              <a:rPr lang="en-US" dirty="0"/>
              <a:t>The results help users understand temperature trends, seasonal variations, and overall weather patterns.</a:t>
            </a:r>
            <a:r>
              <a:rPr dirty="0"/>
              <a:t> </a:t>
            </a:r>
          </a:p>
        </p:txBody>
      </p:sp>
      <p:pic>
        <p:nvPicPr>
          <p:cNvPr id="18" name="object 3">
            <a:extLst>
              <a:ext uri="{FF2B5EF4-FFF2-40B4-BE49-F238E27FC236}">
                <a16:creationId xmlns:a16="http://schemas.microsoft.com/office/drawing/2014/main" id="{F4AA93A8-D673-58E0-DDB9-7D2B1AFA0082}"/>
              </a:ext>
            </a:extLst>
          </p:cNvPr>
          <p:cNvPicPr/>
          <p:nvPr/>
        </p:nvPicPr>
        <p:blipFill>
          <a:blip r:embed="rId2" cstate="print"/>
          <a:stretch>
            <a:fillRect/>
          </a:stretch>
        </p:blipFill>
        <p:spPr>
          <a:xfrm>
            <a:off x="290750" y="204310"/>
            <a:ext cx="1361070" cy="49918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1185280"/>
            <a:ext cx="10972800" cy="594360"/>
          </a:xfrm>
          <a:prstGeom prst="rect">
            <a:avLst/>
          </a:prstGeom>
          <a:noFill/>
        </p:spPr>
        <p:txBody>
          <a:bodyPr wrap="none">
            <a:spAutoFit/>
          </a:bodyPr>
          <a:lstStyle/>
          <a:p>
            <a:pPr>
              <a:defRPr sz="2600" b="1">
                <a:solidFill>
                  <a:srgbClr val="1F3756"/>
                </a:solidFill>
              </a:defRPr>
            </a:pPr>
            <a:r>
              <a:t>PROJECT REPORT &amp; PRESENTATION EVIDENCE</a:t>
            </a:r>
          </a:p>
        </p:txBody>
      </p:sp>
      <p:sp>
        <p:nvSpPr>
          <p:cNvPr id="4" name="Rounded Rectangle 3"/>
          <p:cNvSpPr/>
          <p:nvPr/>
        </p:nvSpPr>
        <p:spPr>
          <a:xfrm>
            <a:off x="640080" y="2273220"/>
            <a:ext cx="521208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804671" y="2401236"/>
            <a:ext cx="4882896" cy="707886"/>
          </a:xfrm>
          <a:prstGeom prst="rect">
            <a:avLst/>
          </a:prstGeom>
          <a:noFill/>
        </p:spPr>
        <p:txBody>
          <a:bodyPr wrap="square">
            <a:spAutoFit/>
          </a:bodyPr>
          <a:lstStyle/>
          <a:p>
            <a:pPr>
              <a:defRPr sz="1500" b="1">
                <a:solidFill>
                  <a:srgbClr val="1F3756"/>
                </a:solidFill>
              </a:defRPr>
            </a:pPr>
            <a:r>
              <a:rPr dirty="0"/>
              <a:t>Report contents completed</a:t>
            </a:r>
          </a:p>
          <a:p>
            <a:pPr>
              <a:defRPr sz="1250">
                <a:solidFill>
                  <a:srgbClr val="2D2D2D"/>
                </a:solidFill>
              </a:defRPr>
            </a:pPr>
            <a:r>
              <a:rPr lang="en-US" dirty="0"/>
              <a:t>Problem Statement • Dataset Description • Data Cleaning • Preprocessing • Statistical Analysis • Visualization • Results • Conclusion</a:t>
            </a:r>
            <a:endParaRPr dirty="0"/>
          </a:p>
        </p:txBody>
      </p:sp>
      <p:sp>
        <p:nvSpPr>
          <p:cNvPr id="6" name="Rounded Rectangle 5"/>
          <p:cNvSpPr/>
          <p:nvPr/>
        </p:nvSpPr>
        <p:spPr>
          <a:xfrm>
            <a:off x="6492240" y="2286000"/>
            <a:ext cx="521208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p:sp>
        <p:nvSpPr>
          <p:cNvPr id="7" name="TextBox 6"/>
          <p:cNvSpPr txBox="1"/>
          <p:nvPr/>
        </p:nvSpPr>
        <p:spPr>
          <a:xfrm>
            <a:off x="6656832" y="2419952"/>
            <a:ext cx="4882896" cy="707886"/>
          </a:xfrm>
          <a:prstGeom prst="rect">
            <a:avLst/>
          </a:prstGeom>
          <a:noFill/>
        </p:spPr>
        <p:txBody>
          <a:bodyPr wrap="square">
            <a:spAutoFit/>
          </a:bodyPr>
          <a:lstStyle/>
          <a:p>
            <a:pPr>
              <a:defRPr sz="1500" b="1">
                <a:solidFill>
                  <a:srgbClr val="1F3756"/>
                </a:solidFill>
              </a:defRPr>
            </a:pPr>
            <a:r>
              <a:rPr dirty="0"/>
              <a:t>Notebook / Code</a:t>
            </a:r>
          </a:p>
          <a:p>
            <a:pPr>
              <a:defRPr sz="1250">
                <a:solidFill>
                  <a:srgbClr val="2D2D2D"/>
                </a:solidFill>
              </a:defRPr>
            </a:pPr>
            <a:r>
              <a:rPr lang="en-US" dirty="0"/>
              <a:t>Working Python code is organized into modules for dataset loading, exploration, cleaning, preprocessing, analysis, and visualization.</a:t>
            </a:r>
            <a:endParaRPr dirty="0"/>
          </a:p>
        </p:txBody>
      </p:sp>
      <p:sp>
        <p:nvSpPr>
          <p:cNvPr id="8" name="Rounded Rectangle 7"/>
          <p:cNvSpPr/>
          <p:nvPr/>
        </p:nvSpPr>
        <p:spPr>
          <a:xfrm>
            <a:off x="3246119" y="4019136"/>
            <a:ext cx="5212080" cy="1143000"/>
          </a:xfrm>
          <a:prstGeom prst="roundRect">
            <a:avLst/>
          </a:prstGeom>
          <a:solidFill>
            <a:srgbClr val="F2F5F9"/>
          </a:solidFill>
          <a:ln>
            <a:solidFill>
              <a:srgbClr val="DCE1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334511" y="4140513"/>
            <a:ext cx="4882896" cy="900246"/>
          </a:xfrm>
          <a:prstGeom prst="rect">
            <a:avLst/>
          </a:prstGeom>
          <a:noFill/>
        </p:spPr>
        <p:txBody>
          <a:bodyPr wrap="square">
            <a:spAutoFit/>
          </a:bodyPr>
          <a:lstStyle/>
          <a:p>
            <a:pPr>
              <a:defRPr sz="1500" b="1">
                <a:solidFill>
                  <a:srgbClr val="1F3756"/>
                </a:solidFill>
              </a:defRPr>
            </a:pPr>
            <a:r>
              <a:rPr dirty="0"/>
              <a:t>Presentation</a:t>
            </a:r>
          </a:p>
          <a:p>
            <a:pPr>
              <a:defRPr sz="1250">
                <a:solidFill>
                  <a:srgbClr val="2D2D2D"/>
                </a:solidFill>
              </a:defRPr>
            </a:pPr>
            <a:r>
              <a:rPr lang="en-US" dirty="0"/>
              <a:t>Weather trends and temperature distributions are clearly presented using line graphs and histograms, along with proper interpretation of the results</a:t>
            </a:r>
            <a:endParaRPr dirty="0"/>
          </a:p>
        </p:txBody>
      </p:sp>
      <p:pic>
        <p:nvPicPr>
          <p:cNvPr id="17" name="object 3">
            <a:extLst>
              <a:ext uri="{FF2B5EF4-FFF2-40B4-BE49-F238E27FC236}">
                <a16:creationId xmlns:a16="http://schemas.microsoft.com/office/drawing/2014/main" id="{F296BF2A-AB91-FEF6-2B55-F4902BFB9FAF}"/>
              </a:ext>
            </a:extLst>
          </p:cNvPr>
          <p:cNvPicPr/>
          <p:nvPr/>
        </p:nvPicPr>
        <p:blipFill>
          <a:blip r:embed="rId2" cstate="print"/>
          <a:stretch>
            <a:fillRect/>
          </a:stretch>
        </p:blipFill>
        <p:spPr>
          <a:xfrm>
            <a:off x="290750" y="204310"/>
            <a:ext cx="1361070" cy="49918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1027964"/>
            <a:ext cx="10972800" cy="594360"/>
          </a:xfrm>
          <a:prstGeom prst="rect">
            <a:avLst/>
          </a:prstGeom>
          <a:noFill/>
        </p:spPr>
        <p:txBody>
          <a:bodyPr wrap="none">
            <a:spAutoFit/>
          </a:bodyPr>
          <a:lstStyle/>
          <a:p>
            <a:pPr>
              <a:defRPr sz="2600" b="1">
                <a:solidFill>
                  <a:srgbClr val="1F3756"/>
                </a:solidFill>
              </a:defRPr>
            </a:pPr>
            <a:r>
              <a:rPr dirty="0"/>
              <a:t>COMPLETED PROJECT WORKFLOW</a:t>
            </a:r>
          </a:p>
        </p:txBody>
      </p:sp>
      <p:sp>
        <p:nvSpPr>
          <p:cNvPr id="4" name="Rounded Rectangle 3"/>
          <p:cNvSpPr/>
          <p:nvPr/>
        </p:nvSpPr>
        <p:spPr>
          <a:xfrm>
            <a:off x="411480" y="1965959"/>
            <a:ext cx="1197864" cy="1009675"/>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dirty="0"/>
              <a:t>Raw </a:t>
            </a:r>
            <a:r>
              <a:rPr lang="en-IN" dirty="0"/>
              <a:t> Weather </a:t>
            </a:r>
            <a:r>
              <a:rPr dirty="0"/>
              <a:t>Dataset</a:t>
            </a:r>
          </a:p>
        </p:txBody>
      </p:sp>
      <p:sp>
        <p:nvSpPr>
          <p:cNvPr id="5" name="Chevron 4"/>
          <p:cNvSpPr/>
          <p:nvPr/>
        </p:nvSpPr>
        <p:spPr>
          <a:xfrm>
            <a:off x="1627632"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1709928"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t>Data Inspection</a:t>
            </a:r>
          </a:p>
        </p:txBody>
      </p:sp>
      <p:sp>
        <p:nvSpPr>
          <p:cNvPr id="7" name="Chevron 6"/>
          <p:cNvSpPr/>
          <p:nvPr/>
        </p:nvSpPr>
        <p:spPr>
          <a:xfrm>
            <a:off x="2926080"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ounded Rectangle 7"/>
          <p:cNvSpPr/>
          <p:nvPr/>
        </p:nvSpPr>
        <p:spPr>
          <a:xfrm>
            <a:off x="3008376"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lang="en-IN" dirty="0"/>
              <a:t>Data </a:t>
            </a:r>
            <a:r>
              <a:rPr dirty="0"/>
              <a:t>Cleaning</a:t>
            </a:r>
          </a:p>
        </p:txBody>
      </p:sp>
      <p:sp>
        <p:nvSpPr>
          <p:cNvPr id="9" name="Chevron 8"/>
          <p:cNvSpPr/>
          <p:nvPr/>
        </p:nvSpPr>
        <p:spPr>
          <a:xfrm>
            <a:off x="4224528"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4306824"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t>Preprocessing</a:t>
            </a:r>
          </a:p>
        </p:txBody>
      </p:sp>
      <p:sp>
        <p:nvSpPr>
          <p:cNvPr id="11" name="Chevron 10"/>
          <p:cNvSpPr/>
          <p:nvPr/>
        </p:nvSpPr>
        <p:spPr>
          <a:xfrm>
            <a:off x="5522976"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605272"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lang="en-IN" noProof="1"/>
              <a:t>Statistical Analysis</a:t>
            </a:r>
          </a:p>
        </p:txBody>
      </p:sp>
      <p:sp>
        <p:nvSpPr>
          <p:cNvPr id="13" name="Chevron 12"/>
          <p:cNvSpPr/>
          <p:nvPr/>
        </p:nvSpPr>
        <p:spPr>
          <a:xfrm>
            <a:off x="6821424"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903720"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lang="en-IN" dirty="0"/>
              <a:t>Visualization</a:t>
            </a:r>
            <a:endParaRPr dirty="0"/>
          </a:p>
        </p:txBody>
      </p:sp>
      <p:sp>
        <p:nvSpPr>
          <p:cNvPr id="15" name="Chevron 14"/>
          <p:cNvSpPr/>
          <p:nvPr/>
        </p:nvSpPr>
        <p:spPr>
          <a:xfrm>
            <a:off x="8119872"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Rounded Rectangle 15"/>
          <p:cNvSpPr/>
          <p:nvPr/>
        </p:nvSpPr>
        <p:spPr>
          <a:xfrm>
            <a:off x="8202168"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lang="en-IN" dirty="0"/>
              <a:t>Temperature conversion</a:t>
            </a:r>
            <a:endParaRPr dirty="0"/>
          </a:p>
        </p:txBody>
      </p:sp>
      <p:sp>
        <p:nvSpPr>
          <p:cNvPr id="17" name="Chevron 16"/>
          <p:cNvSpPr/>
          <p:nvPr/>
        </p:nvSpPr>
        <p:spPr>
          <a:xfrm>
            <a:off x="9418320"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9500616"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lang="en-IN" dirty="0"/>
              <a:t>weather insights</a:t>
            </a:r>
            <a:endParaRPr dirty="0"/>
          </a:p>
        </p:txBody>
      </p:sp>
      <p:sp>
        <p:nvSpPr>
          <p:cNvPr id="19" name="Chevron 18"/>
          <p:cNvSpPr/>
          <p:nvPr/>
        </p:nvSpPr>
        <p:spPr>
          <a:xfrm>
            <a:off x="10716768" y="2258568"/>
            <a:ext cx="64008" cy="365760"/>
          </a:xfrm>
          <a:prstGeom prst="chevron">
            <a:avLst/>
          </a:prstGeom>
          <a:solidFill>
            <a:srgbClr val="4472C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Rounded Rectangle 19"/>
          <p:cNvSpPr/>
          <p:nvPr/>
        </p:nvSpPr>
        <p:spPr>
          <a:xfrm>
            <a:off x="10799064" y="1965960"/>
            <a:ext cx="1207008" cy="960120"/>
          </a:xfrm>
          <a:prstGeom prst="roundRect">
            <a:avLst/>
          </a:prstGeom>
          <a:solidFill>
            <a:srgbClr val="F2F5F9"/>
          </a:solidFill>
          <a:ln>
            <a:solidFill>
              <a:srgbClr val="4472C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1F3756"/>
                </a:solidFill>
              </a:defRPr>
            </a:pPr>
            <a:r>
              <a:rPr lang="en-IN" dirty="0"/>
              <a:t>Results</a:t>
            </a:r>
            <a:r>
              <a:rPr dirty="0"/>
              <a:t> / Report</a:t>
            </a:r>
          </a:p>
        </p:txBody>
      </p:sp>
      <p:pic>
        <p:nvPicPr>
          <p:cNvPr id="23" name="object 3">
            <a:extLst>
              <a:ext uri="{FF2B5EF4-FFF2-40B4-BE49-F238E27FC236}">
                <a16:creationId xmlns:a16="http://schemas.microsoft.com/office/drawing/2014/main" id="{EA39A1F5-0C08-F3D7-C5D4-DBFF75188F50}"/>
              </a:ext>
            </a:extLst>
          </p:cNvPr>
          <p:cNvPicPr/>
          <p:nvPr/>
        </p:nvPicPr>
        <p:blipFill>
          <a:blip r:embed="rId2" cstate="print"/>
          <a:stretch>
            <a:fillRect/>
          </a:stretch>
        </p:blipFill>
        <p:spPr>
          <a:xfrm>
            <a:off x="290750" y="204310"/>
            <a:ext cx="1361070" cy="499189"/>
          </a:xfrm>
          <a:prstGeom prst="rect">
            <a:avLst/>
          </a:prstGeom>
        </p:spPr>
      </p:pic>
      <p:sp>
        <p:nvSpPr>
          <p:cNvPr id="22" name="TextBox 21">
            <a:extLst>
              <a:ext uri="{FF2B5EF4-FFF2-40B4-BE49-F238E27FC236}">
                <a16:creationId xmlns:a16="http://schemas.microsoft.com/office/drawing/2014/main" id="{CAA3D569-3B02-FE96-AF06-33F4B9491344}"/>
              </a:ext>
            </a:extLst>
          </p:cNvPr>
          <p:cNvSpPr txBox="1"/>
          <p:nvPr/>
        </p:nvSpPr>
        <p:spPr>
          <a:xfrm>
            <a:off x="411480" y="3103126"/>
            <a:ext cx="11506200" cy="3754874"/>
          </a:xfrm>
          <a:prstGeom prst="rect">
            <a:avLst/>
          </a:prstGeom>
          <a:noFill/>
        </p:spPr>
        <p:txBody>
          <a:bodyPr wrap="square" rtlCol="0">
            <a:spAutoFit/>
          </a:bodyPr>
          <a:lstStyle/>
          <a:p>
            <a:r>
              <a:rPr lang="en-IN" sz="1400" b="1" dirty="0"/>
              <a:t>Raw Weather Dataset   </a:t>
            </a:r>
            <a:r>
              <a:rPr lang="en-IN" sz="1400" dirty="0"/>
              <a:t>---&gt; We load climate_code.csv file containing date , temperature , humidity , weather data </a:t>
            </a:r>
          </a:p>
          <a:p>
            <a:r>
              <a:rPr lang="en-IN" sz="1400" b="1" dirty="0"/>
              <a:t>               |</a:t>
            </a:r>
          </a:p>
          <a:p>
            <a:r>
              <a:rPr lang="en-IN" sz="1400" b="1" dirty="0"/>
              <a:t>   Data Inspection   </a:t>
            </a:r>
            <a:r>
              <a:rPr lang="en-IN" sz="1400" dirty="0"/>
              <a:t>---&gt;  We check the records, columns, data types , and missing values to understand the dataset</a:t>
            </a:r>
          </a:p>
          <a:p>
            <a:r>
              <a:rPr lang="en-IN" sz="1400" b="1" dirty="0"/>
              <a:t>               |</a:t>
            </a:r>
          </a:p>
          <a:p>
            <a:r>
              <a:rPr lang="en-IN" sz="1400" b="1" dirty="0"/>
              <a:t>    Data Cleaning   </a:t>
            </a:r>
            <a:r>
              <a:rPr lang="en-IN" sz="1400" dirty="0"/>
              <a:t>---&gt;  We convert the data into proper formats and remove missing and duplicate records</a:t>
            </a:r>
          </a:p>
          <a:p>
            <a:r>
              <a:rPr lang="en-IN" sz="1400" b="1" dirty="0"/>
              <a:t>               |</a:t>
            </a:r>
          </a:p>
          <a:p>
            <a:r>
              <a:rPr lang="en-IN" sz="1400" b="1" dirty="0"/>
              <a:t>    Preprocessing   </a:t>
            </a:r>
            <a:r>
              <a:rPr lang="en-IN" sz="1400" dirty="0"/>
              <a:t>---&gt;  The cleaned data is prepared in the required format for analysis and visualization</a:t>
            </a:r>
          </a:p>
          <a:p>
            <a:r>
              <a:rPr lang="en-IN" sz="1400" b="1" dirty="0"/>
              <a:t>               |</a:t>
            </a:r>
          </a:p>
          <a:p>
            <a:r>
              <a:rPr lang="en-IN" sz="1400" b="1" dirty="0"/>
              <a:t>Statistical Analysis   </a:t>
            </a:r>
            <a:r>
              <a:rPr lang="en-IN" sz="1400" dirty="0"/>
              <a:t>---&gt;  We calculate minimum, maximum , and average values and find the most common weather condition</a:t>
            </a:r>
          </a:p>
          <a:p>
            <a:r>
              <a:rPr lang="en-IN" sz="1400" b="1" dirty="0"/>
              <a:t>               |</a:t>
            </a:r>
          </a:p>
          <a:p>
            <a:r>
              <a:rPr lang="en-IN" sz="1400" b="1" dirty="0"/>
              <a:t>    Visualization   </a:t>
            </a:r>
            <a:r>
              <a:rPr lang="en-IN" sz="1400" dirty="0"/>
              <a:t>---&gt;  We create graphs to show temperature , humidity, weather frequency, and their relationships</a:t>
            </a:r>
          </a:p>
          <a:p>
            <a:r>
              <a:rPr lang="en-IN" sz="1400" b="1" dirty="0"/>
              <a:t>               |</a:t>
            </a:r>
          </a:p>
          <a:p>
            <a:r>
              <a:rPr lang="en-IN" sz="1400" b="1" dirty="0"/>
              <a:t>Temperature Conversion   </a:t>
            </a:r>
            <a:r>
              <a:rPr lang="en-IN" sz="1400" dirty="0"/>
              <a:t>---&gt;  We convert temperatures between Celsius and Fahrenheit and add Fahrenheit values to the dataset</a:t>
            </a:r>
          </a:p>
          <a:p>
            <a:r>
              <a:rPr lang="en-IN" sz="1400" b="1" dirty="0"/>
              <a:t>               |</a:t>
            </a:r>
          </a:p>
          <a:p>
            <a:r>
              <a:rPr lang="en-IN" sz="1400" b="1" dirty="0"/>
              <a:t>Weather Insights   </a:t>
            </a:r>
            <a:r>
              <a:rPr lang="en-IN" sz="1400" dirty="0"/>
              <a:t>---&gt;  We identify weather patterns, common conditions, and temperature trends from the data</a:t>
            </a:r>
          </a:p>
          <a:p>
            <a:r>
              <a:rPr lang="en-IN" sz="1400" b="1" dirty="0"/>
              <a:t>               |</a:t>
            </a:r>
          </a:p>
          <a:p>
            <a:r>
              <a:rPr lang="en-IN" sz="1400" b="1" dirty="0"/>
              <a:t>Results / Report    </a:t>
            </a:r>
            <a:r>
              <a:rPr lang="en-IN" sz="1400" dirty="0"/>
              <a:t>---&gt;   Finally, we present the statistics, graphs, and important findings</a:t>
            </a:r>
            <a:endParaRPr lang="en-IN"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94360" y="841152"/>
            <a:ext cx="2097690" cy="492443"/>
          </a:xfrm>
          <a:prstGeom prst="rect">
            <a:avLst/>
          </a:prstGeom>
          <a:noFill/>
        </p:spPr>
        <p:txBody>
          <a:bodyPr wrap="none">
            <a:spAutoFit/>
          </a:bodyPr>
          <a:lstStyle/>
          <a:p>
            <a:pPr>
              <a:defRPr sz="2600" b="1">
                <a:solidFill>
                  <a:srgbClr val="1F3756"/>
                </a:solidFill>
              </a:defRPr>
            </a:pPr>
            <a:r>
              <a:rPr dirty="0"/>
              <a:t>CONCLUSION </a:t>
            </a:r>
          </a:p>
        </p:txBody>
      </p:sp>
      <p:sp>
        <p:nvSpPr>
          <p:cNvPr id="4" name="TextBox 3"/>
          <p:cNvSpPr txBox="1"/>
          <p:nvPr/>
        </p:nvSpPr>
        <p:spPr>
          <a:xfrm>
            <a:off x="777240" y="1702457"/>
            <a:ext cx="10607040" cy="2544286"/>
          </a:xfrm>
          <a:prstGeom prst="rect">
            <a:avLst/>
          </a:prstGeom>
          <a:noFill/>
        </p:spPr>
        <p:txBody>
          <a:bodyPr wrap="square">
            <a:spAutoFit/>
          </a:bodyPr>
          <a:lstStyle/>
          <a:p>
            <a:pPr>
              <a:spcAft>
                <a:spcPts val="1000"/>
              </a:spcAft>
              <a:defRPr sz="1800">
                <a:solidFill>
                  <a:srgbClr val="2D2D2D"/>
                </a:solidFill>
              </a:defRPr>
            </a:pPr>
            <a:r>
              <a:rPr lang="en-US" dirty="0"/>
              <a:t> The Weather Data Analysis System successfully implements data cleaning, preprocessing, statistical analysis, and visualization using Python.</a:t>
            </a:r>
          </a:p>
          <a:p>
            <a:pPr>
              <a:spcAft>
                <a:spcPts val="1000"/>
              </a:spcAft>
              <a:defRPr sz="1800">
                <a:solidFill>
                  <a:srgbClr val="2D2D2D"/>
                </a:solidFill>
              </a:defRPr>
            </a:pPr>
            <a:r>
              <a:rPr lang="en-US" dirty="0"/>
              <a:t>Missing, duplicate, and inconsistent data are handled to prepare a clean dataset .</a:t>
            </a:r>
          </a:p>
          <a:p>
            <a:pPr>
              <a:spcAft>
                <a:spcPts val="1000"/>
              </a:spcAft>
              <a:defRPr sz="1800">
                <a:solidFill>
                  <a:srgbClr val="2D2D2D"/>
                </a:solidFill>
              </a:defRPr>
            </a:pPr>
            <a:r>
              <a:rPr lang="en-US" dirty="0"/>
              <a:t>The system analyses minimum, maximum, and average temperature values along with weather patterns .</a:t>
            </a:r>
          </a:p>
          <a:p>
            <a:pPr>
              <a:spcAft>
                <a:spcPts val="1000"/>
              </a:spcAft>
              <a:defRPr sz="1800">
                <a:solidFill>
                  <a:srgbClr val="2D2D2D"/>
                </a:solidFill>
              </a:defRPr>
            </a:pPr>
            <a:r>
              <a:rPr lang="en-US" dirty="0"/>
              <a:t>The  graphs and charts help visualize temperature trends and distributions.</a:t>
            </a:r>
          </a:p>
          <a:p>
            <a:pPr>
              <a:spcAft>
                <a:spcPts val="1000"/>
              </a:spcAft>
              <a:defRPr sz="1800">
                <a:solidFill>
                  <a:srgbClr val="2D2D2D"/>
                </a:solidFill>
              </a:defRPr>
            </a:pPr>
            <a:r>
              <a:rPr lang="en-US" dirty="0"/>
              <a:t>Overall, the project transforms raw weather data into meaningful insights and provides a foundation for future weather forecasting and machine learning models.</a:t>
            </a:r>
            <a:endParaRPr dirty="0"/>
          </a:p>
        </p:txBody>
      </p:sp>
      <p:pic>
        <p:nvPicPr>
          <p:cNvPr id="8" name="object 3">
            <a:extLst>
              <a:ext uri="{FF2B5EF4-FFF2-40B4-BE49-F238E27FC236}">
                <a16:creationId xmlns:a16="http://schemas.microsoft.com/office/drawing/2014/main" id="{5340D3B1-A129-AAB3-4A8C-C03BB3896133}"/>
              </a:ext>
            </a:extLst>
          </p:cNvPr>
          <p:cNvPicPr/>
          <p:nvPr/>
        </p:nvPicPr>
        <p:blipFill>
          <a:blip r:embed="rId2" cstate="print"/>
          <a:stretch>
            <a:fillRect/>
          </a:stretch>
        </p:blipFill>
        <p:spPr>
          <a:xfrm>
            <a:off x="290750" y="204310"/>
            <a:ext cx="1361070" cy="49918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Rectangle 1"/>
          <p:cNvSpPr/>
          <p:nvPr/>
        </p:nvSpPr>
        <p:spPr>
          <a:xfrm>
            <a:off x="0" y="0"/>
            <a:ext cx="12191695" cy="128016"/>
          </a:xfrm>
          <a:prstGeom prst="rect">
            <a:avLst/>
          </a:prstGeom>
          <a:solidFill>
            <a:srgbClr val="1F375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713270" y="2468880"/>
            <a:ext cx="2734979" cy="1046440"/>
          </a:xfrm>
          <a:prstGeom prst="rect">
            <a:avLst/>
          </a:prstGeom>
          <a:noFill/>
        </p:spPr>
        <p:txBody>
          <a:bodyPr wrap="none">
            <a:spAutoFit/>
          </a:bodyPr>
          <a:lstStyle/>
          <a:p>
            <a:pPr algn="ctr">
              <a:defRPr sz="4000" b="1">
                <a:solidFill>
                  <a:srgbClr val="1F3756"/>
                </a:solidFill>
              </a:defRPr>
            </a:pPr>
            <a:r>
              <a:rPr dirty="0"/>
              <a:t>THANK YOU</a:t>
            </a:r>
          </a:p>
          <a:p>
            <a:pPr algn="ctr">
              <a:defRPr sz="2200">
                <a:solidFill>
                  <a:srgbClr val="4472C4"/>
                </a:solidFill>
              </a:defRPr>
            </a:pPr>
            <a:endParaRPr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833</TotalTime>
  <Words>1695</Words>
  <Application>Microsoft Office PowerPoint</Application>
  <PresentationFormat>Widescreen</PresentationFormat>
  <Paragraphs>215</Paragraphs>
  <Slides>16</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16</vt:i4>
      </vt:variant>
    </vt:vector>
  </HeadingPairs>
  <TitlesOfParts>
    <vt:vector size="20"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Bhagya Reka</dc:creator>
  <cp:keywords/>
  <dc:description>generated using python-pptx</dc:description>
  <cp:lastModifiedBy>Bhagya Reka</cp:lastModifiedBy>
  <cp:revision>12</cp:revision>
  <dcterms:created xsi:type="dcterms:W3CDTF">2013-01-27T09:14:16Z</dcterms:created>
  <dcterms:modified xsi:type="dcterms:W3CDTF">2026-10-23T15:11:49Z</dcterms:modified>
  <cp:category/>
</cp:coreProperties>
</file>